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2"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1018"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43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D"/>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4CAF50"/>
          </a:solidFill>
          <a:ln/>
        </p:spPr>
        <p:txBody>
          <a:bodyPr/>
          <a:lstStyle/>
          <a:p>
            <a:endParaRPr lang="en-GB"/>
          </a:p>
        </p:txBody>
      </p:sp>
      <p:pic>
        <p:nvPicPr>
          <p:cNvPr id="3" name="Image 0" descr="preencoded.png"/>
          <p:cNvPicPr>
            <a:picLocks noChangeAspect="1"/>
          </p:cNvPicPr>
          <p:nvPr/>
        </p:nvPicPr>
        <p:blipFill>
          <a:blip r:embed="rId3"/>
          <a:stretch>
            <a:fillRect/>
          </a:stretch>
        </p:blipFill>
        <p:spPr>
          <a:xfrm>
            <a:off x="731520" y="914400"/>
            <a:ext cx="731520" cy="731520"/>
          </a:xfrm>
          <a:prstGeom prst="rect">
            <a:avLst/>
          </a:prstGeom>
        </p:spPr>
      </p:pic>
      <p:sp>
        <p:nvSpPr>
          <p:cNvPr id="4" name="Text 1"/>
          <p:cNvSpPr/>
          <p:nvPr/>
        </p:nvSpPr>
        <p:spPr>
          <a:xfrm>
            <a:off x="1645920" y="731520"/>
            <a:ext cx="6400800" cy="1097280"/>
          </a:xfrm>
          <a:prstGeom prst="rect">
            <a:avLst/>
          </a:prstGeom>
          <a:noFill/>
          <a:ln/>
        </p:spPr>
        <p:txBody>
          <a:bodyPr wrap="square" lIns="0" tIns="0" rIns="0" bIns="0" rtlCol="0" anchor="ctr"/>
          <a:lstStyle/>
          <a:p>
            <a:pPr marL="0" indent="0">
              <a:buNone/>
            </a:pPr>
            <a:r>
              <a:rPr lang="en-US" sz="4800" b="1" dirty="0">
                <a:solidFill>
                  <a:srgbClr val="4CAF50"/>
                </a:solidFill>
                <a:latin typeface="Arial Black" pitchFamily="34" charset="0"/>
                <a:ea typeface="Arial Black" pitchFamily="34" charset="-122"/>
                <a:cs typeface="Arial Black" pitchFamily="34" charset="-120"/>
              </a:rPr>
              <a:t>TRUCYCLE</a:t>
            </a:r>
            <a:endParaRPr lang="en-US" sz="4800" dirty="0"/>
          </a:p>
        </p:txBody>
      </p:sp>
      <p:sp>
        <p:nvSpPr>
          <p:cNvPr id="5" name="Text 2"/>
          <p:cNvSpPr/>
          <p:nvPr/>
        </p:nvSpPr>
        <p:spPr>
          <a:xfrm>
            <a:off x="1645920" y="1645920"/>
            <a:ext cx="6400800" cy="548640"/>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Circular Economy Platform</a:t>
            </a:r>
            <a:endParaRPr lang="en-US" sz="2200" dirty="0"/>
          </a:p>
        </p:txBody>
      </p:sp>
      <p:sp>
        <p:nvSpPr>
          <p:cNvPr id="6" name="Text 3"/>
          <p:cNvSpPr/>
          <p:nvPr/>
        </p:nvSpPr>
        <p:spPr>
          <a:xfrm>
            <a:off x="1645920" y="2194560"/>
            <a:ext cx="6400800" cy="457200"/>
          </a:xfrm>
          <a:prstGeom prst="rect">
            <a:avLst/>
          </a:prstGeom>
          <a:noFill/>
          <a:ln/>
        </p:spPr>
        <p:txBody>
          <a:bodyPr wrap="square" lIns="0" tIns="0" rIns="0" bIns="0" rtlCol="0" anchor="ctr"/>
          <a:lstStyle/>
          <a:p>
            <a:pPr marL="0" indent="0">
              <a:buNone/>
            </a:pPr>
            <a:r>
              <a:rPr lang="en-US" sz="1600" i="1" dirty="0">
                <a:solidFill>
                  <a:srgbClr val="5C6B63"/>
                </a:solidFill>
                <a:latin typeface="Calibri" pitchFamily="34" charset="0"/>
                <a:ea typeface="Calibri" pitchFamily="34" charset="-122"/>
                <a:cs typeface="Calibri" pitchFamily="34" charset="-120"/>
              </a:rPr>
              <a:t>Transforming Waste into Value</a:t>
            </a:r>
            <a:endParaRPr lang="en-US" sz="1600" dirty="0"/>
          </a:p>
        </p:txBody>
      </p:sp>
      <p:sp>
        <p:nvSpPr>
          <p:cNvPr id="7" name="Shape 4"/>
          <p:cNvSpPr/>
          <p:nvPr/>
        </p:nvSpPr>
        <p:spPr>
          <a:xfrm>
            <a:off x="1645920" y="2926080"/>
            <a:ext cx="4572000" cy="0"/>
          </a:xfrm>
          <a:prstGeom prst="line">
            <a:avLst/>
          </a:prstGeom>
          <a:noFill/>
          <a:ln w="25400">
            <a:solidFill>
              <a:srgbClr val="4CAF50"/>
            </a:solidFill>
            <a:prstDash val="solid"/>
          </a:ln>
        </p:spPr>
        <p:txBody>
          <a:bodyPr/>
          <a:lstStyle/>
          <a:p>
            <a:endParaRPr lang="en-GB"/>
          </a:p>
        </p:txBody>
      </p:sp>
      <p:sp>
        <p:nvSpPr>
          <p:cNvPr id="8" name="Text 5"/>
          <p:cNvSpPr/>
          <p:nvPr/>
        </p:nvSpPr>
        <p:spPr>
          <a:xfrm>
            <a:off x="1645920" y="3200400"/>
            <a:ext cx="6400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SEIS/EIS Advance Assurance Application — Eligibility Not Yet Confirmed (Pending HMRC Approval)</a:t>
            </a:r>
            <a:endParaRPr lang="en-US" sz="1200" dirty="0"/>
          </a:p>
        </p:txBody>
      </p:sp>
      <p:sp>
        <p:nvSpPr>
          <p:cNvPr id="9" name="Text 6"/>
          <p:cNvSpPr/>
          <p:nvPr/>
        </p:nvSpPr>
        <p:spPr>
          <a:xfrm>
            <a:off x="1645920" y="3566160"/>
            <a:ext cx="6400800" cy="365760"/>
          </a:xfrm>
          <a:prstGeom prst="rect">
            <a:avLst/>
          </a:prstGeom>
          <a:noFill/>
          <a:ln/>
        </p:spPr>
        <p:txBody>
          <a:bodyPr wrap="square" lIns="0" tIns="0" rIns="0" bIns="0" rtlCol="0" anchor="ctr"/>
          <a:lstStyle/>
          <a:p>
            <a:pPr marL="0" indent="0">
              <a:buNone/>
            </a:pPr>
            <a:r>
              <a:rPr lang="en-US" sz="1200" dirty="0">
                <a:solidFill>
                  <a:srgbClr val="5C6B63"/>
                </a:solidFill>
                <a:latin typeface="Calibri" pitchFamily="34" charset="0"/>
                <a:ea typeface="Calibri" pitchFamily="34" charset="-122"/>
                <a:cs typeface="Calibri" pitchFamily="34" charset="-120"/>
              </a:rPr>
              <a:t>Q2 2026 Launch  |  10 Revenue Streams  |  3-Year Projections</a:t>
            </a:r>
            <a:endParaRPr lang="en-US" sz="1200" dirty="0"/>
          </a:p>
        </p:txBody>
      </p:sp>
      <p:sp>
        <p:nvSpPr>
          <p:cNvPr id="10" name="Text 7"/>
          <p:cNvSpPr/>
          <p:nvPr/>
        </p:nvSpPr>
        <p:spPr>
          <a:xfrm>
            <a:off x="1645920" y="4114800"/>
            <a:ext cx="6400800" cy="274320"/>
          </a:xfrm>
          <a:prstGeom prst="rect">
            <a:avLst/>
          </a:prstGeom>
          <a:noFill/>
          <a:ln/>
        </p:spPr>
        <p:txBody>
          <a:bodyPr wrap="square" lIns="0" tIns="0" rIns="0" bIns="0" rtlCol="0" anchor="ctr"/>
          <a:lstStyle/>
          <a:p>
            <a:pPr marL="0" indent="0">
              <a:buNone/>
            </a:pPr>
            <a:r>
              <a:rPr lang="en-US" sz="1000" dirty="0">
                <a:solidFill>
                  <a:srgbClr val="5C6B63"/>
                </a:solidFill>
                <a:latin typeface="Calibri" pitchFamily="34" charset="0"/>
                <a:ea typeface="Calibri" pitchFamily="34" charset="-122"/>
                <a:cs typeface="Calibri" pitchFamily="34" charset="-120"/>
              </a:rPr>
              <a:t>Trucycle Ltd (trading as TruCycle)  |  Registered Address: 86-90 Paul Street, London, EC2A 4NE</a:t>
            </a:r>
            <a:endParaRPr lang="en-US" sz="1000" dirty="0"/>
          </a:p>
        </p:txBody>
      </p:sp>
      <p:sp>
        <p:nvSpPr>
          <p:cNvPr id="11" name="Text 8"/>
          <p:cNvSpPr/>
          <p:nvPr/>
        </p:nvSpPr>
        <p:spPr>
          <a:xfrm>
            <a:off x="1645920" y="4389120"/>
            <a:ext cx="6400800" cy="274320"/>
          </a:xfrm>
          <a:prstGeom prst="rect">
            <a:avLst/>
          </a:prstGeom>
          <a:noFill/>
          <a:ln/>
        </p:spPr>
        <p:txBody>
          <a:bodyPr wrap="square" lIns="0" tIns="0" rIns="0" bIns="0" rtlCol="0" anchor="ctr"/>
          <a:lstStyle/>
          <a:p>
            <a:pPr marL="0" indent="0">
              <a:buNone/>
            </a:pPr>
            <a:r>
              <a:rPr lang="en-US" sz="900" i="1" dirty="0">
                <a:solidFill>
                  <a:srgbClr val="5C6B63"/>
                </a:solidFill>
                <a:latin typeface="Calibri" pitchFamily="34" charset="0"/>
                <a:ea typeface="Calibri" pitchFamily="34" charset="-122"/>
                <a:cs typeface="Calibri" pitchFamily="34" charset="-120"/>
              </a:rPr>
              <a:t>Operational base: London (team members work remotely across London; physical warehouse planned for Month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THE PROBLEM &amp; OPPORTUNITY</a:t>
            </a:r>
            <a:endParaRPr lang="en-US" sz="2400" dirty="0"/>
          </a:p>
        </p:txBody>
      </p:sp>
      <p:sp>
        <p:nvSpPr>
          <p:cNvPr id="4" name="Shape 2"/>
          <p:cNvSpPr/>
          <p:nvPr/>
        </p:nvSpPr>
        <p:spPr>
          <a:xfrm>
            <a:off x="457200" y="1097280"/>
            <a:ext cx="3931920" cy="914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5" name="Text 3"/>
          <p:cNvSpPr/>
          <p:nvPr/>
        </p:nvSpPr>
        <p:spPr>
          <a:xfrm>
            <a:off x="640080" y="1143000"/>
            <a:ext cx="1371600" cy="457200"/>
          </a:xfrm>
          <a:prstGeom prst="rect">
            <a:avLst/>
          </a:prstGeom>
          <a:noFill/>
          <a:ln/>
        </p:spPr>
        <p:txBody>
          <a:bodyPr wrap="square" lIns="0" tIns="0" rIns="0" bIns="0" rtlCol="0" anchor="ctr"/>
          <a:lstStyle/>
          <a:p>
            <a:pPr marL="0" indent="0">
              <a:buNone/>
            </a:pPr>
            <a:r>
              <a:rPr lang="en-US" sz="2800" b="1" dirty="0">
                <a:solidFill>
                  <a:srgbClr val="E8812B"/>
                </a:solidFill>
                <a:latin typeface="Arial Black" pitchFamily="34" charset="0"/>
                <a:ea typeface="Arial Black" pitchFamily="34" charset="-122"/>
                <a:cs typeface="Arial Black" pitchFamily="34" charset="-120"/>
              </a:rPr>
              <a:t>22M</a:t>
            </a:r>
            <a:endParaRPr lang="en-US" sz="2800" dirty="0"/>
          </a:p>
        </p:txBody>
      </p:sp>
      <p:sp>
        <p:nvSpPr>
          <p:cNvPr id="6" name="Text 4"/>
          <p:cNvSpPr/>
          <p:nvPr/>
        </p:nvSpPr>
        <p:spPr>
          <a:xfrm>
            <a:off x="640080" y="1554480"/>
            <a:ext cx="3474720" cy="36576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pieces of furniture discarded annually in the UK</a:t>
            </a:r>
            <a:endParaRPr lang="en-US" sz="1100" dirty="0"/>
          </a:p>
        </p:txBody>
      </p:sp>
      <p:sp>
        <p:nvSpPr>
          <p:cNvPr id="7" name="Shape 5"/>
          <p:cNvSpPr/>
          <p:nvPr/>
        </p:nvSpPr>
        <p:spPr>
          <a:xfrm>
            <a:off x="457200" y="2194560"/>
            <a:ext cx="3931920" cy="914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8" name="Text 6"/>
          <p:cNvSpPr/>
          <p:nvPr/>
        </p:nvSpPr>
        <p:spPr>
          <a:xfrm>
            <a:off x="640080" y="2240280"/>
            <a:ext cx="1371600" cy="457200"/>
          </a:xfrm>
          <a:prstGeom prst="rect">
            <a:avLst/>
          </a:prstGeom>
          <a:noFill/>
          <a:ln/>
        </p:spPr>
        <p:txBody>
          <a:bodyPr wrap="square" lIns="0" tIns="0" rIns="0" bIns="0" rtlCol="0" anchor="ctr"/>
          <a:lstStyle/>
          <a:p>
            <a:pPr marL="0" indent="0">
              <a:buNone/>
            </a:pPr>
            <a:r>
              <a:rPr lang="en-US" sz="2800" b="1" dirty="0">
                <a:solidFill>
                  <a:srgbClr val="C62828"/>
                </a:solidFill>
                <a:latin typeface="Arial Black" pitchFamily="34" charset="0"/>
                <a:ea typeface="Arial Black" pitchFamily="34" charset="-122"/>
                <a:cs typeface="Arial Black" pitchFamily="34" charset="-120"/>
              </a:rPr>
              <a:t>1.13M</a:t>
            </a:r>
            <a:endParaRPr lang="en-US" sz="2800" dirty="0"/>
          </a:p>
        </p:txBody>
      </p:sp>
      <p:sp>
        <p:nvSpPr>
          <p:cNvPr id="9" name="Text 7"/>
          <p:cNvSpPr/>
          <p:nvPr/>
        </p:nvSpPr>
        <p:spPr>
          <a:xfrm>
            <a:off x="640080" y="2651760"/>
            <a:ext cx="3474720" cy="36576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fly-tipping incidents in England annually (2023)</a:t>
            </a:r>
            <a:endParaRPr lang="en-US" sz="1100" dirty="0"/>
          </a:p>
        </p:txBody>
      </p:sp>
      <p:sp>
        <p:nvSpPr>
          <p:cNvPr id="10" name="Shape 8"/>
          <p:cNvSpPr/>
          <p:nvPr/>
        </p:nvSpPr>
        <p:spPr>
          <a:xfrm>
            <a:off x="457200" y="3291840"/>
            <a:ext cx="3931920" cy="914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1" name="Text 9"/>
          <p:cNvSpPr/>
          <p:nvPr/>
        </p:nvSpPr>
        <p:spPr>
          <a:xfrm>
            <a:off x="640080" y="3337560"/>
            <a:ext cx="1645920" cy="457200"/>
          </a:xfrm>
          <a:prstGeom prst="rect">
            <a:avLst/>
          </a:prstGeom>
          <a:noFill/>
          <a:ln/>
        </p:spPr>
        <p:txBody>
          <a:bodyPr wrap="square" lIns="0" tIns="0" rIns="0" bIns="0" rtlCol="0" anchor="ctr"/>
          <a:lstStyle/>
          <a:p>
            <a:pPr marL="0" indent="0">
              <a:buNone/>
            </a:pPr>
            <a:r>
              <a:rPr lang="en-US" sz="2800" b="1" dirty="0">
                <a:solidFill>
                  <a:srgbClr val="E8812B"/>
                </a:solidFill>
                <a:latin typeface="Arial Black" pitchFamily="34" charset="0"/>
                <a:ea typeface="Arial Black" pitchFamily="34" charset="-122"/>
                <a:cs typeface="Arial Black" pitchFamily="34" charset="-120"/>
              </a:rPr>
              <a:t>500K+</a:t>
            </a:r>
            <a:endParaRPr lang="en-US" sz="2800" dirty="0"/>
          </a:p>
        </p:txBody>
      </p:sp>
      <p:sp>
        <p:nvSpPr>
          <p:cNvPr id="12" name="Text 10"/>
          <p:cNvSpPr/>
          <p:nvPr/>
        </p:nvSpPr>
        <p:spPr>
          <a:xfrm>
            <a:off x="640080" y="3749040"/>
            <a:ext cx="3474720" cy="36576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tonnes of e-waste goes uncollected through proper channels</a:t>
            </a:r>
            <a:endParaRPr lang="en-US" sz="1100" dirty="0"/>
          </a:p>
        </p:txBody>
      </p:sp>
      <p:sp>
        <p:nvSpPr>
          <p:cNvPr id="13" name="Shape 11"/>
          <p:cNvSpPr/>
          <p:nvPr/>
        </p:nvSpPr>
        <p:spPr>
          <a:xfrm>
            <a:off x="4754880" y="1097280"/>
            <a:ext cx="3931920" cy="3108960"/>
          </a:xfrm>
          <a:prstGeom prst="rect">
            <a:avLst/>
          </a:prstGeom>
          <a:solidFill>
            <a:srgbClr val="1B3A2D"/>
          </a:solidFill>
          <a:ln/>
          <a:effectLst>
            <a:outerShdw blurRad="50800" dist="25400" dir="8100000" algn="bl" rotWithShape="0">
              <a:srgbClr val="000000">
                <a:alpha val="10000"/>
              </a:srgbClr>
            </a:outerShdw>
          </a:effectLst>
        </p:spPr>
        <p:txBody>
          <a:bodyPr/>
          <a:lstStyle/>
          <a:p>
            <a:endParaRPr lang="en-GB"/>
          </a:p>
        </p:txBody>
      </p:sp>
      <p:sp>
        <p:nvSpPr>
          <p:cNvPr id="14" name="Text 12"/>
          <p:cNvSpPr/>
          <p:nvPr/>
        </p:nvSpPr>
        <p:spPr>
          <a:xfrm>
            <a:off x="5029200" y="1234440"/>
            <a:ext cx="3383280" cy="365760"/>
          </a:xfrm>
          <a:prstGeom prst="rect">
            <a:avLst/>
          </a:prstGeom>
          <a:noFill/>
          <a:ln/>
        </p:spPr>
        <p:txBody>
          <a:bodyPr wrap="square" lIns="0" tIns="0" rIns="0" bIns="0" rtlCol="0" anchor="ctr"/>
          <a:lstStyle/>
          <a:p>
            <a:pPr marL="0" indent="0">
              <a:buNone/>
            </a:pPr>
            <a:r>
              <a:rPr lang="en-US" sz="1800" b="1" dirty="0">
                <a:solidFill>
                  <a:srgbClr val="4CAF50"/>
                </a:solidFill>
                <a:latin typeface="Arial Black" pitchFamily="34" charset="0"/>
                <a:ea typeface="Arial Black" pitchFamily="34" charset="-122"/>
                <a:cs typeface="Arial Black" pitchFamily="34" charset="-120"/>
              </a:rPr>
              <a:t>Market Size</a:t>
            </a:r>
            <a:endParaRPr lang="en-US" sz="1800" dirty="0"/>
          </a:p>
        </p:txBody>
      </p:sp>
      <p:sp>
        <p:nvSpPr>
          <p:cNvPr id="15" name="Text 13"/>
          <p:cNvSpPr/>
          <p:nvPr/>
        </p:nvSpPr>
        <p:spPr>
          <a:xfrm>
            <a:off x="5029200" y="1691640"/>
            <a:ext cx="3383280" cy="2377440"/>
          </a:xfrm>
          <a:prstGeom prst="rect">
            <a:avLst/>
          </a:prstGeom>
          <a:noFill/>
          <a:ln/>
        </p:spPr>
        <p:txBody>
          <a:bodyPr wrap="square" rtlCol="0" anchor="t"/>
          <a:lstStyle/>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London households: 3.6M</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London SMEs: 981,000</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UK furniture market: £18B/yr</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UK circular economy market: £350-500M (growing 20%+/yr)</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UK WEEE recycling market: £1.49B (2024)</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Secondhand market growing 25x faster than retail</a:t>
            </a:r>
            <a:endParaRPr lang="en-US" sz="1100" dirty="0"/>
          </a:p>
        </p:txBody>
      </p:sp>
      <p:sp>
        <p:nvSpPr>
          <p:cNvPr id="16" name="Text 14"/>
          <p:cNvSpPr/>
          <p:nvPr/>
        </p:nvSpPr>
        <p:spPr>
          <a:xfrm>
            <a:off x="457200" y="4480560"/>
            <a:ext cx="8229600" cy="274320"/>
          </a:xfrm>
          <a:prstGeom prst="rect">
            <a:avLst/>
          </a:prstGeom>
          <a:noFill/>
          <a:ln/>
        </p:spPr>
        <p:txBody>
          <a:bodyPr wrap="square" lIns="0" tIns="0" rIns="0" bIns="0" rtlCol="0" anchor="ctr"/>
          <a:lstStyle/>
          <a:p>
            <a:pPr marL="0" indent="0">
              <a:buNone/>
            </a:pPr>
            <a:r>
              <a:rPr lang="en-US" sz="1000" i="1" dirty="0">
                <a:solidFill>
                  <a:srgbClr val="5C6B63"/>
                </a:solidFill>
                <a:latin typeface="Calibri" pitchFamily="34" charset="0"/>
                <a:ea typeface="Calibri" pitchFamily="34" charset="-122"/>
                <a:cs typeface="Calibri" pitchFamily="34" charset="-120"/>
              </a:rPr>
              <a:t>Current disposal costs: Council £30-50, Private £80-200+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OUR SOLUTION</a:t>
            </a:r>
            <a:endParaRPr lang="en-US" sz="2400" dirty="0"/>
          </a:p>
        </p:txBody>
      </p:sp>
      <p:sp>
        <p:nvSpPr>
          <p:cNvPr id="4" name="Text 2"/>
          <p:cNvSpPr/>
          <p:nvPr/>
        </p:nvSpPr>
        <p:spPr>
          <a:xfrm>
            <a:off x="457200" y="1005840"/>
            <a:ext cx="8229600" cy="365760"/>
          </a:xfrm>
          <a:prstGeom prst="rect">
            <a:avLst/>
          </a:prstGeom>
          <a:noFill/>
          <a:ln/>
        </p:spPr>
        <p:txBody>
          <a:bodyPr wrap="square" lIns="0" tIns="0" rIns="0" bIns="0" rtlCol="0" anchor="ctr"/>
          <a:lstStyle/>
          <a:p>
            <a:pPr marL="0" indent="0">
              <a:buNone/>
            </a:pPr>
            <a:r>
              <a:rPr lang="en-US" sz="1300" i="1" dirty="0">
                <a:solidFill>
                  <a:srgbClr val="1E1E1E"/>
                </a:solidFill>
                <a:latin typeface="Calibri" pitchFamily="34" charset="0"/>
                <a:ea typeface="Calibri" pitchFamily="34" charset="-122"/>
                <a:cs typeface="Calibri" pitchFamily="34" charset="-120"/>
              </a:rPr>
              <a:t>TruCycle is an integrated platform making sustainable waste disposal easier, cheaper, and more rewarding than alternatives.</a:t>
            </a:r>
            <a:endParaRPr lang="en-US" sz="1300" dirty="0"/>
          </a:p>
        </p:txBody>
      </p:sp>
      <p:sp>
        <p:nvSpPr>
          <p:cNvPr id="5" name="Shape 3"/>
          <p:cNvSpPr/>
          <p:nvPr/>
        </p:nvSpPr>
        <p:spPr>
          <a:xfrm>
            <a:off x="457200" y="1554480"/>
            <a:ext cx="3931920" cy="1417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6" name="Shape 4"/>
          <p:cNvSpPr/>
          <p:nvPr/>
        </p:nvSpPr>
        <p:spPr>
          <a:xfrm>
            <a:off x="594360" y="1691640"/>
            <a:ext cx="457200" cy="457200"/>
          </a:xfrm>
          <a:prstGeom prst="ellipse">
            <a:avLst/>
          </a:prstGeom>
          <a:solidFill>
            <a:srgbClr val="2D7A4F"/>
          </a:solidFill>
          <a:ln/>
        </p:spPr>
        <p:txBody>
          <a:bodyPr/>
          <a:lstStyle/>
          <a:p>
            <a:endParaRPr lang="en-GB"/>
          </a:p>
        </p:txBody>
      </p:sp>
      <p:pic>
        <p:nvPicPr>
          <p:cNvPr id="7" name="Image 0" descr="preencoded.png"/>
          <p:cNvPicPr>
            <a:picLocks noChangeAspect="1"/>
          </p:cNvPicPr>
          <p:nvPr/>
        </p:nvPicPr>
        <p:blipFill>
          <a:blip r:embed="rId3"/>
          <a:stretch>
            <a:fillRect/>
          </a:stretch>
        </p:blipFill>
        <p:spPr>
          <a:xfrm>
            <a:off x="658368" y="1755648"/>
            <a:ext cx="320040" cy="320040"/>
          </a:xfrm>
          <a:prstGeom prst="rect">
            <a:avLst/>
          </a:prstGeom>
        </p:spPr>
      </p:pic>
      <p:sp>
        <p:nvSpPr>
          <p:cNvPr id="8" name="Text 5"/>
          <p:cNvSpPr/>
          <p:nvPr/>
        </p:nvSpPr>
        <p:spPr>
          <a:xfrm>
            <a:off x="1188720" y="1691640"/>
            <a:ext cx="2926080" cy="365760"/>
          </a:xfrm>
          <a:prstGeom prst="rect">
            <a:avLst/>
          </a:prstGeom>
          <a:noFill/>
          <a:ln/>
        </p:spPr>
        <p:txBody>
          <a:bodyPr wrap="square" lIns="0" tIns="0" rIns="0" bIns="0" rtlCol="0" anchor="ctr"/>
          <a:lstStyle/>
          <a:p>
            <a:pPr marL="0" indent="0">
              <a:buNone/>
            </a:pPr>
            <a:r>
              <a:rPr lang="en-US" sz="1400" b="1" dirty="0">
                <a:solidFill>
                  <a:srgbClr val="2D7A4F"/>
                </a:solidFill>
                <a:latin typeface="Calibri" pitchFamily="34" charset="0"/>
                <a:ea typeface="Calibri" pitchFamily="34" charset="-122"/>
                <a:cs typeface="Calibri" pitchFamily="34" charset="-120"/>
              </a:rPr>
              <a:t>Consumer Collection</a:t>
            </a:r>
            <a:endParaRPr lang="en-US" sz="1400" dirty="0"/>
          </a:p>
        </p:txBody>
      </p:sp>
      <p:sp>
        <p:nvSpPr>
          <p:cNvPr id="9" name="Text 6"/>
          <p:cNvSpPr/>
          <p:nvPr/>
        </p:nvSpPr>
        <p:spPr>
          <a:xfrm>
            <a:off x="594360" y="2148840"/>
            <a:ext cx="3657600" cy="73152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Free collection of up to 50kg/year for registered users. Premium subscription (£10/month) for unlimited collections. Items triaged into reuse, upcycle, recycle, or disposal streams.</a:t>
            </a:r>
            <a:endParaRPr lang="en-US" sz="1000" dirty="0"/>
          </a:p>
        </p:txBody>
      </p:sp>
      <p:sp>
        <p:nvSpPr>
          <p:cNvPr id="10" name="Shape 7"/>
          <p:cNvSpPr/>
          <p:nvPr/>
        </p:nvSpPr>
        <p:spPr>
          <a:xfrm>
            <a:off x="4754880" y="1554480"/>
            <a:ext cx="3931920" cy="1417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1" name="Shape 8"/>
          <p:cNvSpPr/>
          <p:nvPr/>
        </p:nvSpPr>
        <p:spPr>
          <a:xfrm>
            <a:off x="4892040" y="1691640"/>
            <a:ext cx="457200" cy="457200"/>
          </a:xfrm>
          <a:prstGeom prst="ellipse">
            <a:avLst/>
          </a:prstGeom>
          <a:solidFill>
            <a:srgbClr val="2D7A4F"/>
          </a:solidFill>
          <a:ln/>
        </p:spPr>
        <p:txBody>
          <a:bodyPr/>
          <a:lstStyle/>
          <a:p>
            <a:endParaRPr lang="en-GB"/>
          </a:p>
        </p:txBody>
      </p:sp>
      <p:pic>
        <p:nvPicPr>
          <p:cNvPr id="12" name="Image 1" descr="preencoded.png"/>
          <p:cNvPicPr>
            <a:picLocks noChangeAspect="1"/>
          </p:cNvPicPr>
          <p:nvPr/>
        </p:nvPicPr>
        <p:blipFill>
          <a:blip r:embed="rId4"/>
          <a:stretch>
            <a:fillRect/>
          </a:stretch>
        </p:blipFill>
        <p:spPr>
          <a:xfrm>
            <a:off x="4956048" y="1755648"/>
            <a:ext cx="320040" cy="320040"/>
          </a:xfrm>
          <a:prstGeom prst="rect">
            <a:avLst/>
          </a:prstGeom>
        </p:spPr>
      </p:pic>
      <p:sp>
        <p:nvSpPr>
          <p:cNvPr id="13" name="Text 9"/>
          <p:cNvSpPr/>
          <p:nvPr/>
        </p:nvSpPr>
        <p:spPr>
          <a:xfrm>
            <a:off x="5486400" y="1691640"/>
            <a:ext cx="2926080" cy="365760"/>
          </a:xfrm>
          <a:prstGeom prst="rect">
            <a:avLst/>
          </a:prstGeom>
          <a:noFill/>
          <a:ln/>
        </p:spPr>
        <p:txBody>
          <a:bodyPr wrap="square" lIns="0" tIns="0" rIns="0" bIns="0" rtlCol="0" anchor="ctr"/>
          <a:lstStyle/>
          <a:p>
            <a:pPr marL="0" indent="0">
              <a:buNone/>
            </a:pPr>
            <a:r>
              <a:rPr lang="en-US" sz="1400" b="1" dirty="0">
                <a:solidFill>
                  <a:srgbClr val="2D7A4F"/>
                </a:solidFill>
                <a:latin typeface="Calibri" pitchFamily="34" charset="0"/>
                <a:ea typeface="Calibri" pitchFamily="34" charset="-122"/>
                <a:cs typeface="Calibri" pitchFamily="34" charset="-120"/>
              </a:rPr>
              <a:t>Marketplace &amp; Auctions</a:t>
            </a:r>
            <a:endParaRPr lang="en-US" sz="1400" dirty="0"/>
          </a:p>
        </p:txBody>
      </p:sp>
      <p:sp>
        <p:nvSpPr>
          <p:cNvPr id="14" name="Text 10"/>
          <p:cNvSpPr/>
          <p:nvPr/>
        </p:nvSpPr>
        <p:spPr>
          <a:xfrm>
            <a:off x="4892040" y="2148840"/>
            <a:ext cx="3657600" cy="73152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P2P exchange where users list items directly, plus TruCycle-certified refurbished goods. Premium auction section with artist-commissioned upcycled pieces.</a:t>
            </a:r>
            <a:endParaRPr lang="en-US" sz="1000" dirty="0"/>
          </a:p>
        </p:txBody>
      </p:sp>
      <p:sp>
        <p:nvSpPr>
          <p:cNvPr id="15" name="Shape 11"/>
          <p:cNvSpPr/>
          <p:nvPr/>
        </p:nvSpPr>
        <p:spPr>
          <a:xfrm>
            <a:off x="457200" y="3200400"/>
            <a:ext cx="3931920" cy="1417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6" name="Shape 12"/>
          <p:cNvSpPr/>
          <p:nvPr/>
        </p:nvSpPr>
        <p:spPr>
          <a:xfrm>
            <a:off x="594360" y="3337560"/>
            <a:ext cx="457200" cy="457200"/>
          </a:xfrm>
          <a:prstGeom prst="ellipse">
            <a:avLst/>
          </a:prstGeom>
          <a:solidFill>
            <a:srgbClr val="2D7A4F"/>
          </a:solidFill>
          <a:ln/>
        </p:spPr>
        <p:txBody>
          <a:bodyPr/>
          <a:lstStyle/>
          <a:p>
            <a:endParaRPr lang="en-GB"/>
          </a:p>
        </p:txBody>
      </p:sp>
      <p:pic>
        <p:nvPicPr>
          <p:cNvPr id="17" name="Image 2" descr="preencoded.png"/>
          <p:cNvPicPr>
            <a:picLocks noChangeAspect="1"/>
          </p:cNvPicPr>
          <p:nvPr/>
        </p:nvPicPr>
        <p:blipFill>
          <a:blip r:embed="rId5"/>
          <a:stretch>
            <a:fillRect/>
          </a:stretch>
        </p:blipFill>
        <p:spPr>
          <a:xfrm>
            <a:off x="658368" y="3401568"/>
            <a:ext cx="320040" cy="320040"/>
          </a:xfrm>
          <a:prstGeom prst="rect">
            <a:avLst/>
          </a:prstGeom>
        </p:spPr>
      </p:pic>
      <p:sp>
        <p:nvSpPr>
          <p:cNvPr id="18" name="Text 13"/>
          <p:cNvSpPr/>
          <p:nvPr/>
        </p:nvSpPr>
        <p:spPr>
          <a:xfrm>
            <a:off x="1188720" y="3337560"/>
            <a:ext cx="2926080" cy="365760"/>
          </a:xfrm>
          <a:prstGeom prst="rect">
            <a:avLst/>
          </a:prstGeom>
          <a:noFill/>
          <a:ln/>
        </p:spPr>
        <p:txBody>
          <a:bodyPr wrap="square" lIns="0" tIns="0" rIns="0" bIns="0" rtlCol="0" anchor="ctr"/>
          <a:lstStyle/>
          <a:p>
            <a:pPr marL="0" indent="0">
              <a:buNone/>
            </a:pPr>
            <a:r>
              <a:rPr lang="en-US" sz="1400" b="1" dirty="0">
                <a:solidFill>
                  <a:srgbClr val="2D7A4F"/>
                </a:solidFill>
                <a:latin typeface="Calibri" pitchFamily="34" charset="0"/>
                <a:ea typeface="Calibri" pitchFamily="34" charset="-122"/>
                <a:cs typeface="Calibri" pitchFamily="34" charset="-120"/>
              </a:rPr>
              <a:t>B2B &amp; Corporate Services</a:t>
            </a:r>
            <a:endParaRPr lang="en-US" sz="1400" dirty="0"/>
          </a:p>
        </p:txBody>
      </p:sp>
      <p:sp>
        <p:nvSpPr>
          <p:cNvPr id="19" name="Text 14"/>
          <p:cNvSpPr/>
          <p:nvPr/>
        </p:nvSpPr>
        <p:spPr>
          <a:xfrm>
            <a:off x="594360" y="3794760"/>
            <a:ext cx="3657600" cy="73152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Office clearance for SMEs. OEM take-back programmes with manufacturers (e.g. IKEA, Samsung). White-label waste management for retailers meeting EPR obligations.</a:t>
            </a:r>
            <a:endParaRPr lang="en-US" sz="1000" dirty="0"/>
          </a:p>
        </p:txBody>
      </p:sp>
      <p:sp>
        <p:nvSpPr>
          <p:cNvPr id="20" name="Shape 15"/>
          <p:cNvSpPr/>
          <p:nvPr/>
        </p:nvSpPr>
        <p:spPr>
          <a:xfrm>
            <a:off x="4754880" y="3200400"/>
            <a:ext cx="3931920" cy="1417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21" name="Shape 16"/>
          <p:cNvSpPr/>
          <p:nvPr/>
        </p:nvSpPr>
        <p:spPr>
          <a:xfrm>
            <a:off x="4892040" y="3337560"/>
            <a:ext cx="457200" cy="457200"/>
          </a:xfrm>
          <a:prstGeom prst="ellipse">
            <a:avLst/>
          </a:prstGeom>
          <a:solidFill>
            <a:srgbClr val="2D7A4F"/>
          </a:solidFill>
          <a:ln/>
        </p:spPr>
        <p:txBody>
          <a:bodyPr/>
          <a:lstStyle/>
          <a:p>
            <a:endParaRPr lang="en-GB"/>
          </a:p>
        </p:txBody>
      </p:sp>
      <p:pic>
        <p:nvPicPr>
          <p:cNvPr id="22" name="Image 3" descr="preencoded.png"/>
          <p:cNvPicPr>
            <a:picLocks noChangeAspect="1"/>
          </p:cNvPicPr>
          <p:nvPr/>
        </p:nvPicPr>
        <p:blipFill>
          <a:blip r:embed="rId6"/>
          <a:stretch>
            <a:fillRect/>
          </a:stretch>
        </p:blipFill>
        <p:spPr>
          <a:xfrm>
            <a:off x="4956048" y="3401568"/>
            <a:ext cx="320040" cy="320040"/>
          </a:xfrm>
          <a:prstGeom prst="rect">
            <a:avLst/>
          </a:prstGeom>
        </p:spPr>
      </p:pic>
      <p:sp>
        <p:nvSpPr>
          <p:cNvPr id="23" name="Text 17"/>
          <p:cNvSpPr/>
          <p:nvPr/>
        </p:nvSpPr>
        <p:spPr>
          <a:xfrm>
            <a:off x="5486400" y="3337560"/>
            <a:ext cx="2926080" cy="365760"/>
          </a:xfrm>
          <a:prstGeom prst="rect">
            <a:avLst/>
          </a:prstGeom>
          <a:noFill/>
          <a:ln/>
        </p:spPr>
        <p:txBody>
          <a:bodyPr wrap="square" lIns="0" tIns="0" rIns="0" bIns="0" rtlCol="0" anchor="ctr"/>
          <a:lstStyle/>
          <a:p>
            <a:pPr marL="0" indent="0">
              <a:buNone/>
            </a:pPr>
            <a:r>
              <a:rPr lang="en-US" sz="1400" b="1" dirty="0">
                <a:solidFill>
                  <a:srgbClr val="2D7A4F"/>
                </a:solidFill>
                <a:latin typeface="Calibri" pitchFamily="34" charset="0"/>
                <a:ea typeface="Calibri" pitchFamily="34" charset="-122"/>
                <a:cs typeface="Calibri" pitchFamily="34" charset="-120"/>
              </a:rPr>
              <a:t>Compliance &amp; Sustainability</a:t>
            </a:r>
            <a:endParaRPr lang="en-US" sz="1400" dirty="0"/>
          </a:p>
        </p:txBody>
      </p:sp>
      <p:sp>
        <p:nvSpPr>
          <p:cNvPr id="24" name="Text 18"/>
          <p:cNvSpPr/>
          <p:nvPr/>
        </p:nvSpPr>
        <p:spPr>
          <a:xfrm>
            <a:off x="4892040" y="3794760"/>
            <a:ext cx="3657600" cy="73152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E-waste channelling through AATF-licensed facilities generating WEEE Evidence Notes for Producer Compliance Schemes. Environmental impact tracking and sustainability reporting.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HOW IT WORKS</a:t>
            </a:r>
            <a:endParaRPr lang="en-US" sz="2400" dirty="0"/>
          </a:p>
        </p:txBody>
      </p:sp>
      <p:sp>
        <p:nvSpPr>
          <p:cNvPr id="4" name="Shape 2"/>
          <p:cNvSpPr/>
          <p:nvPr/>
        </p:nvSpPr>
        <p:spPr>
          <a:xfrm>
            <a:off x="457200" y="1097280"/>
            <a:ext cx="548640" cy="548640"/>
          </a:xfrm>
          <a:prstGeom prst="ellipse">
            <a:avLst/>
          </a:prstGeom>
          <a:solidFill>
            <a:srgbClr val="2D7A4F"/>
          </a:solidFill>
          <a:ln/>
        </p:spPr>
        <p:txBody>
          <a:bodyPr/>
          <a:lstStyle/>
          <a:p>
            <a:endParaRPr lang="en-GB"/>
          </a:p>
        </p:txBody>
      </p:sp>
      <p:sp>
        <p:nvSpPr>
          <p:cNvPr id="5" name="Text 3"/>
          <p:cNvSpPr/>
          <p:nvPr/>
        </p:nvSpPr>
        <p:spPr>
          <a:xfrm>
            <a:off x="457200" y="1097280"/>
            <a:ext cx="548640" cy="548640"/>
          </a:xfrm>
          <a:prstGeom prst="rect">
            <a:avLst/>
          </a:prstGeom>
          <a:noFill/>
          <a:ln/>
        </p:spPr>
        <p:txBody>
          <a:bodyPr wrap="square" lIns="0" tIns="0" rIns="0" bIns="0" rtlCol="0" anchor="ctr"/>
          <a:lstStyle/>
          <a:p>
            <a:pPr marL="0" indent="0" algn="ctr">
              <a:buNone/>
            </a:pPr>
            <a:r>
              <a:rPr lang="en-US" sz="2200"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6" name="Text 4"/>
          <p:cNvSpPr/>
          <p:nvPr/>
        </p:nvSpPr>
        <p:spPr>
          <a:xfrm>
            <a:off x="1188720" y="1097280"/>
            <a:ext cx="2286000" cy="548640"/>
          </a:xfrm>
          <a:prstGeom prst="rect">
            <a:avLst/>
          </a:prstGeom>
          <a:noFill/>
          <a:ln/>
        </p:spPr>
        <p:txBody>
          <a:bodyPr wrap="square" lIns="0" tIns="0" rIns="0" bIns="0" rtlCol="0" anchor="ctr"/>
          <a:lstStyle/>
          <a:p>
            <a:pPr marL="0" indent="0">
              <a:buNone/>
            </a:pPr>
            <a:r>
              <a:rPr lang="en-US" sz="1500" b="1" dirty="0">
                <a:solidFill>
                  <a:srgbClr val="2D7A4F"/>
                </a:solidFill>
                <a:latin typeface="Calibri" pitchFamily="34" charset="0"/>
                <a:ea typeface="Calibri" pitchFamily="34" charset="-122"/>
                <a:cs typeface="Calibri" pitchFamily="34" charset="-120"/>
              </a:rPr>
              <a:t>List &amp; Book</a:t>
            </a:r>
            <a:endParaRPr lang="en-US" sz="1500" dirty="0"/>
          </a:p>
        </p:txBody>
      </p:sp>
      <p:sp>
        <p:nvSpPr>
          <p:cNvPr id="7" name="Text 5"/>
          <p:cNvSpPr/>
          <p:nvPr/>
        </p:nvSpPr>
        <p:spPr>
          <a:xfrm>
            <a:off x="3474720" y="1097280"/>
            <a:ext cx="5212080" cy="640080"/>
          </a:xfrm>
          <a:prstGeom prst="rect">
            <a:avLst/>
          </a:prstGeom>
          <a:noFill/>
          <a:ln/>
        </p:spPr>
        <p:txBody>
          <a:bodyPr wrap="square" lIns="0" tIns="0" rIns="0" bIns="0" rtlCol="0" anchor="t"/>
          <a:lstStyle/>
          <a:p>
            <a:pPr marL="0" indent="0">
              <a:buNone/>
            </a:pPr>
            <a:r>
              <a:rPr lang="en-US" sz="1050" dirty="0">
                <a:solidFill>
                  <a:srgbClr val="1E1E1E"/>
                </a:solidFill>
                <a:latin typeface="Calibri" pitchFamily="34" charset="0"/>
                <a:ea typeface="Calibri" pitchFamily="34" charset="-122"/>
                <a:cs typeface="Calibri" pitchFamily="34" charset="-120"/>
              </a:rPr>
              <a:t>Users list unwanted items via the app. AI categorises by weight, type, and condition. Subscribers schedule pickups; others use drop-off points.</a:t>
            </a:r>
            <a:endParaRPr lang="en-US" sz="1050" dirty="0"/>
          </a:p>
        </p:txBody>
      </p:sp>
      <p:sp>
        <p:nvSpPr>
          <p:cNvPr id="8" name="Shape 6"/>
          <p:cNvSpPr/>
          <p:nvPr/>
        </p:nvSpPr>
        <p:spPr>
          <a:xfrm>
            <a:off x="731520" y="1737360"/>
            <a:ext cx="0" cy="228600"/>
          </a:xfrm>
          <a:prstGeom prst="line">
            <a:avLst/>
          </a:prstGeom>
          <a:noFill/>
          <a:ln w="25400">
            <a:solidFill>
              <a:srgbClr val="4CAF50"/>
            </a:solidFill>
            <a:prstDash val="dash"/>
          </a:ln>
        </p:spPr>
        <p:txBody>
          <a:bodyPr/>
          <a:lstStyle/>
          <a:p>
            <a:endParaRPr lang="en-GB"/>
          </a:p>
        </p:txBody>
      </p:sp>
      <p:sp>
        <p:nvSpPr>
          <p:cNvPr id="9" name="Shape 7"/>
          <p:cNvSpPr/>
          <p:nvPr/>
        </p:nvSpPr>
        <p:spPr>
          <a:xfrm>
            <a:off x="457200" y="2057400"/>
            <a:ext cx="548640" cy="548640"/>
          </a:xfrm>
          <a:prstGeom prst="ellipse">
            <a:avLst/>
          </a:prstGeom>
          <a:solidFill>
            <a:srgbClr val="2D7A4F"/>
          </a:solidFill>
          <a:ln/>
        </p:spPr>
        <p:txBody>
          <a:bodyPr/>
          <a:lstStyle/>
          <a:p>
            <a:endParaRPr lang="en-GB"/>
          </a:p>
        </p:txBody>
      </p:sp>
      <p:sp>
        <p:nvSpPr>
          <p:cNvPr id="10" name="Text 8"/>
          <p:cNvSpPr/>
          <p:nvPr/>
        </p:nvSpPr>
        <p:spPr>
          <a:xfrm>
            <a:off x="457200" y="2057400"/>
            <a:ext cx="548640" cy="548640"/>
          </a:xfrm>
          <a:prstGeom prst="rect">
            <a:avLst/>
          </a:prstGeom>
          <a:noFill/>
          <a:ln/>
        </p:spPr>
        <p:txBody>
          <a:bodyPr wrap="square" lIns="0" tIns="0" rIns="0" bIns="0" rtlCol="0" anchor="ctr"/>
          <a:lstStyle/>
          <a:p>
            <a:pPr marL="0" indent="0" algn="ctr">
              <a:buNone/>
            </a:pPr>
            <a:r>
              <a:rPr lang="en-US" sz="2200"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1" name="Text 9"/>
          <p:cNvSpPr/>
          <p:nvPr/>
        </p:nvSpPr>
        <p:spPr>
          <a:xfrm>
            <a:off x="1188720" y="2057400"/>
            <a:ext cx="2286000" cy="548640"/>
          </a:xfrm>
          <a:prstGeom prst="rect">
            <a:avLst/>
          </a:prstGeom>
          <a:noFill/>
          <a:ln/>
        </p:spPr>
        <p:txBody>
          <a:bodyPr wrap="square" lIns="0" tIns="0" rIns="0" bIns="0" rtlCol="0" anchor="ctr"/>
          <a:lstStyle/>
          <a:p>
            <a:pPr marL="0" indent="0">
              <a:buNone/>
            </a:pPr>
            <a:r>
              <a:rPr lang="en-US" sz="1500" b="1" dirty="0">
                <a:solidFill>
                  <a:srgbClr val="2D7A4F"/>
                </a:solidFill>
                <a:latin typeface="Calibri" pitchFamily="34" charset="0"/>
                <a:ea typeface="Calibri" pitchFamily="34" charset="-122"/>
                <a:cs typeface="Calibri" pitchFamily="34" charset="-120"/>
              </a:rPr>
              <a:t>Collect &amp; Triage</a:t>
            </a:r>
            <a:endParaRPr lang="en-US" sz="1500" dirty="0"/>
          </a:p>
        </p:txBody>
      </p:sp>
      <p:sp>
        <p:nvSpPr>
          <p:cNvPr id="12" name="Text 10"/>
          <p:cNvSpPr/>
          <p:nvPr/>
        </p:nvSpPr>
        <p:spPr>
          <a:xfrm>
            <a:off x="3474720" y="2057400"/>
            <a:ext cx="5212080" cy="640080"/>
          </a:xfrm>
          <a:prstGeom prst="rect">
            <a:avLst/>
          </a:prstGeom>
          <a:noFill/>
          <a:ln/>
        </p:spPr>
        <p:txBody>
          <a:bodyPr wrap="square" lIns="0" tIns="0" rIns="0" bIns="0" rtlCol="0" anchor="t"/>
          <a:lstStyle/>
          <a:p>
            <a:pPr marL="0" indent="0">
              <a:buNone/>
            </a:pPr>
            <a:r>
              <a:rPr lang="en-US" sz="1050" dirty="0">
                <a:solidFill>
                  <a:srgbClr val="1E1E1E"/>
                </a:solidFill>
                <a:latin typeface="Calibri" pitchFamily="34" charset="0"/>
                <a:ea typeface="Calibri" pitchFamily="34" charset="-122"/>
                <a:cs typeface="Calibri" pitchFamily="34" charset="-120"/>
              </a:rPr>
              <a:t>Items collected by TruCycle fleet or dropped at drop-off points. Each item graded: Resale (25%), Upcycle (15%), Recycle (40%), E-waste (15%), Disposal (3%).</a:t>
            </a:r>
            <a:endParaRPr lang="en-US" sz="1050" dirty="0"/>
          </a:p>
        </p:txBody>
      </p:sp>
      <p:sp>
        <p:nvSpPr>
          <p:cNvPr id="13" name="Shape 11"/>
          <p:cNvSpPr/>
          <p:nvPr/>
        </p:nvSpPr>
        <p:spPr>
          <a:xfrm>
            <a:off x="731520" y="2697480"/>
            <a:ext cx="0" cy="228600"/>
          </a:xfrm>
          <a:prstGeom prst="line">
            <a:avLst/>
          </a:prstGeom>
          <a:noFill/>
          <a:ln w="25400">
            <a:solidFill>
              <a:srgbClr val="4CAF50"/>
            </a:solidFill>
            <a:prstDash val="dash"/>
          </a:ln>
        </p:spPr>
        <p:txBody>
          <a:bodyPr/>
          <a:lstStyle/>
          <a:p>
            <a:endParaRPr lang="en-GB"/>
          </a:p>
        </p:txBody>
      </p:sp>
      <p:sp>
        <p:nvSpPr>
          <p:cNvPr id="14" name="Shape 12"/>
          <p:cNvSpPr/>
          <p:nvPr/>
        </p:nvSpPr>
        <p:spPr>
          <a:xfrm>
            <a:off x="457200" y="3017520"/>
            <a:ext cx="548640" cy="548640"/>
          </a:xfrm>
          <a:prstGeom prst="ellipse">
            <a:avLst/>
          </a:prstGeom>
          <a:solidFill>
            <a:srgbClr val="2D7A4F"/>
          </a:solidFill>
          <a:ln/>
        </p:spPr>
        <p:txBody>
          <a:bodyPr/>
          <a:lstStyle/>
          <a:p>
            <a:endParaRPr lang="en-GB"/>
          </a:p>
        </p:txBody>
      </p:sp>
      <p:sp>
        <p:nvSpPr>
          <p:cNvPr id="15" name="Text 13"/>
          <p:cNvSpPr/>
          <p:nvPr/>
        </p:nvSpPr>
        <p:spPr>
          <a:xfrm>
            <a:off x="457200" y="3017520"/>
            <a:ext cx="548640" cy="548640"/>
          </a:xfrm>
          <a:prstGeom prst="rect">
            <a:avLst/>
          </a:prstGeom>
          <a:noFill/>
          <a:ln/>
        </p:spPr>
        <p:txBody>
          <a:bodyPr wrap="square" lIns="0" tIns="0" rIns="0" bIns="0" rtlCol="0" anchor="ctr"/>
          <a:lstStyle/>
          <a:p>
            <a:pPr marL="0" indent="0" algn="ctr">
              <a:buNone/>
            </a:pPr>
            <a:r>
              <a:rPr lang="en-US" sz="2200"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16" name="Text 14"/>
          <p:cNvSpPr/>
          <p:nvPr/>
        </p:nvSpPr>
        <p:spPr>
          <a:xfrm>
            <a:off x="1188720" y="3017520"/>
            <a:ext cx="2286000" cy="548640"/>
          </a:xfrm>
          <a:prstGeom prst="rect">
            <a:avLst/>
          </a:prstGeom>
          <a:noFill/>
          <a:ln/>
        </p:spPr>
        <p:txBody>
          <a:bodyPr wrap="square" lIns="0" tIns="0" rIns="0" bIns="0" rtlCol="0" anchor="ctr"/>
          <a:lstStyle/>
          <a:p>
            <a:pPr marL="0" indent="0">
              <a:buNone/>
            </a:pPr>
            <a:r>
              <a:rPr lang="en-US" sz="1500" b="1" dirty="0">
                <a:solidFill>
                  <a:srgbClr val="2D7A4F"/>
                </a:solidFill>
                <a:latin typeface="Calibri" pitchFamily="34" charset="0"/>
                <a:ea typeface="Calibri" pitchFamily="34" charset="-122"/>
                <a:cs typeface="Calibri" pitchFamily="34" charset="-120"/>
              </a:rPr>
              <a:t>Process &amp; Transform</a:t>
            </a:r>
            <a:endParaRPr lang="en-US" sz="1500" dirty="0"/>
          </a:p>
        </p:txBody>
      </p:sp>
      <p:sp>
        <p:nvSpPr>
          <p:cNvPr id="17" name="Text 15"/>
          <p:cNvSpPr/>
          <p:nvPr/>
        </p:nvSpPr>
        <p:spPr>
          <a:xfrm>
            <a:off x="3474720" y="3017520"/>
            <a:ext cx="5212080" cy="640080"/>
          </a:xfrm>
          <a:prstGeom prst="rect">
            <a:avLst/>
          </a:prstGeom>
          <a:noFill/>
          <a:ln/>
        </p:spPr>
        <p:txBody>
          <a:bodyPr wrap="square" lIns="0" tIns="0" rIns="0" bIns="0" rtlCol="0" anchor="t"/>
          <a:lstStyle/>
          <a:p>
            <a:pPr marL="0" indent="0">
              <a:buNone/>
            </a:pPr>
            <a:r>
              <a:rPr lang="en-US" sz="1050" dirty="0">
                <a:solidFill>
                  <a:srgbClr val="1E1E1E"/>
                </a:solidFill>
                <a:latin typeface="Calibri" pitchFamily="34" charset="0"/>
                <a:ea typeface="Calibri" pitchFamily="34" charset="-122"/>
                <a:cs typeface="Calibri" pitchFamily="34" charset="-120"/>
              </a:rPr>
              <a:t>Warehouses sort, repair, and upcycle items. Furniture refurbished by in-house team and guest artists. Electronics diagnosed and repaired. E-waste sent to AATF-licensed facility.</a:t>
            </a:r>
            <a:endParaRPr lang="en-US" sz="1050" dirty="0"/>
          </a:p>
        </p:txBody>
      </p:sp>
      <p:sp>
        <p:nvSpPr>
          <p:cNvPr id="18" name="Shape 16"/>
          <p:cNvSpPr/>
          <p:nvPr/>
        </p:nvSpPr>
        <p:spPr>
          <a:xfrm>
            <a:off x="731520" y="3657600"/>
            <a:ext cx="0" cy="228600"/>
          </a:xfrm>
          <a:prstGeom prst="line">
            <a:avLst/>
          </a:prstGeom>
          <a:noFill/>
          <a:ln w="25400">
            <a:solidFill>
              <a:srgbClr val="4CAF50"/>
            </a:solidFill>
            <a:prstDash val="dash"/>
          </a:ln>
        </p:spPr>
        <p:txBody>
          <a:bodyPr/>
          <a:lstStyle/>
          <a:p>
            <a:endParaRPr lang="en-GB"/>
          </a:p>
        </p:txBody>
      </p:sp>
      <p:sp>
        <p:nvSpPr>
          <p:cNvPr id="19" name="Shape 17"/>
          <p:cNvSpPr/>
          <p:nvPr/>
        </p:nvSpPr>
        <p:spPr>
          <a:xfrm>
            <a:off x="457200" y="3977640"/>
            <a:ext cx="548640" cy="548640"/>
          </a:xfrm>
          <a:prstGeom prst="ellipse">
            <a:avLst/>
          </a:prstGeom>
          <a:solidFill>
            <a:srgbClr val="2D7A4F"/>
          </a:solidFill>
          <a:ln/>
        </p:spPr>
        <p:txBody>
          <a:bodyPr/>
          <a:lstStyle/>
          <a:p>
            <a:endParaRPr lang="en-GB"/>
          </a:p>
        </p:txBody>
      </p:sp>
      <p:sp>
        <p:nvSpPr>
          <p:cNvPr id="20" name="Text 18"/>
          <p:cNvSpPr/>
          <p:nvPr/>
        </p:nvSpPr>
        <p:spPr>
          <a:xfrm>
            <a:off x="457200" y="3977640"/>
            <a:ext cx="548640" cy="548640"/>
          </a:xfrm>
          <a:prstGeom prst="rect">
            <a:avLst/>
          </a:prstGeom>
          <a:noFill/>
          <a:ln/>
        </p:spPr>
        <p:txBody>
          <a:bodyPr wrap="square" lIns="0" tIns="0" rIns="0" bIns="0" rtlCol="0" anchor="ctr"/>
          <a:lstStyle/>
          <a:p>
            <a:pPr marL="0" indent="0" algn="ctr">
              <a:buNone/>
            </a:pPr>
            <a:r>
              <a:rPr lang="en-US" sz="2200"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21" name="Text 19"/>
          <p:cNvSpPr/>
          <p:nvPr/>
        </p:nvSpPr>
        <p:spPr>
          <a:xfrm>
            <a:off x="1188720" y="3977640"/>
            <a:ext cx="2286000" cy="548640"/>
          </a:xfrm>
          <a:prstGeom prst="rect">
            <a:avLst/>
          </a:prstGeom>
          <a:noFill/>
          <a:ln/>
        </p:spPr>
        <p:txBody>
          <a:bodyPr wrap="square" lIns="0" tIns="0" rIns="0" bIns="0" rtlCol="0" anchor="ctr"/>
          <a:lstStyle/>
          <a:p>
            <a:pPr marL="0" indent="0">
              <a:buNone/>
            </a:pPr>
            <a:r>
              <a:rPr lang="en-US" sz="1500" b="1" dirty="0">
                <a:solidFill>
                  <a:srgbClr val="2D7A4F"/>
                </a:solidFill>
                <a:latin typeface="Calibri" pitchFamily="34" charset="0"/>
                <a:ea typeface="Calibri" pitchFamily="34" charset="-122"/>
                <a:cs typeface="Calibri" pitchFamily="34" charset="-120"/>
              </a:rPr>
              <a:t>Sell &amp; Certify</a:t>
            </a:r>
            <a:endParaRPr lang="en-US" sz="1500" dirty="0"/>
          </a:p>
        </p:txBody>
      </p:sp>
      <p:sp>
        <p:nvSpPr>
          <p:cNvPr id="22" name="Text 20"/>
          <p:cNvSpPr/>
          <p:nvPr/>
        </p:nvSpPr>
        <p:spPr>
          <a:xfrm>
            <a:off x="3474720" y="3977640"/>
            <a:ext cx="5212080" cy="640080"/>
          </a:xfrm>
          <a:prstGeom prst="rect">
            <a:avLst/>
          </a:prstGeom>
          <a:noFill/>
          <a:ln/>
        </p:spPr>
        <p:txBody>
          <a:bodyPr wrap="square" lIns="0" tIns="0" rIns="0" bIns="0" rtlCol="0" anchor="t"/>
          <a:lstStyle/>
          <a:p>
            <a:pPr marL="0" indent="0">
              <a:buNone/>
            </a:pPr>
            <a:r>
              <a:rPr lang="en-US" sz="1050" dirty="0">
                <a:solidFill>
                  <a:srgbClr val="1E1E1E"/>
                </a:solidFill>
                <a:latin typeface="Calibri" pitchFamily="34" charset="0"/>
                <a:ea typeface="Calibri" pitchFamily="34" charset="-122"/>
                <a:cs typeface="Calibri" pitchFamily="34" charset="-120"/>
              </a:rPr>
              <a:t>Refurbished items sold on marketplaces. Environmental impact measured and reported. Materials forwarded to specialist recyclers.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ACHIEVEMENTS &amp; MILESTONES</a:t>
            </a:r>
            <a:endParaRPr lang="en-US" sz="2400" dirty="0"/>
          </a:p>
        </p:txBody>
      </p:sp>
      <p:pic>
        <p:nvPicPr>
          <p:cNvPr id="4" name="Image 0" descr="preencoded.png"/>
          <p:cNvPicPr>
            <a:picLocks noChangeAspect="1"/>
          </p:cNvPicPr>
          <p:nvPr/>
        </p:nvPicPr>
        <p:blipFill>
          <a:blip r:embed="rId3"/>
          <a:stretch>
            <a:fillRect/>
          </a:stretch>
        </p:blipFill>
        <p:spPr>
          <a:xfrm>
            <a:off x="548640" y="1097280"/>
            <a:ext cx="274320" cy="274320"/>
          </a:xfrm>
          <a:prstGeom prst="rect">
            <a:avLst/>
          </a:prstGeom>
        </p:spPr>
      </p:pic>
      <p:sp>
        <p:nvSpPr>
          <p:cNvPr id="5" name="Text 2"/>
          <p:cNvSpPr/>
          <p:nvPr/>
        </p:nvSpPr>
        <p:spPr>
          <a:xfrm>
            <a:off x="1005840" y="1051560"/>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Company incorporated and registered at Companies House</a:t>
            </a:r>
            <a:endParaRPr lang="en-US" sz="1100" dirty="0"/>
          </a:p>
        </p:txBody>
      </p:sp>
      <p:pic>
        <p:nvPicPr>
          <p:cNvPr id="6" name="Image 1" descr="preencoded.png"/>
          <p:cNvPicPr>
            <a:picLocks noChangeAspect="1"/>
          </p:cNvPicPr>
          <p:nvPr/>
        </p:nvPicPr>
        <p:blipFill>
          <a:blip r:embed="rId3"/>
          <a:stretch>
            <a:fillRect/>
          </a:stretch>
        </p:blipFill>
        <p:spPr>
          <a:xfrm>
            <a:off x="548640" y="1572768"/>
            <a:ext cx="274320" cy="274320"/>
          </a:xfrm>
          <a:prstGeom prst="rect">
            <a:avLst/>
          </a:prstGeom>
        </p:spPr>
      </p:pic>
      <p:sp>
        <p:nvSpPr>
          <p:cNvPr id="7" name="Text 3"/>
          <p:cNvSpPr/>
          <p:nvPr/>
        </p:nvSpPr>
        <p:spPr>
          <a:xfrm>
            <a:off x="1005840" y="1527048"/>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Platform MVP developed and tested; consumer-ready launch planned for March 2026</a:t>
            </a:r>
            <a:endParaRPr lang="en-US" sz="1100" dirty="0"/>
          </a:p>
        </p:txBody>
      </p:sp>
      <p:pic>
        <p:nvPicPr>
          <p:cNvPr id="8" name="Image 2" descr="preencoded.png"/>
          <p:cNvPicPr>
            <a:picLocks noChangeAspect="1"/>
          </p:cNvPicPr>
          <p:nvPr/>
        </p:nvPicPr>
        <p:blipFill>
          <a:blip r:embed="rId3"/>
          <a:stretch>
            <a:fillRect/>
          </a:stretch>
        </p:blipFill>
        <p:spPr>
          <a:xfrm>
            <a:off x="548640" y="2048256"/>
            <a:ext cx="274320" cy="274320"/>
          </a:xfrm>
          <a:prstGeom prst="rect">
            <a:avLst/>
          </a:prstGeom>
        </p:spPr>
      </p:pic>
      <p:sp>
        <p:nvSpPr>
          <p:cNvPr id="9" name="Text 4"/>
          <p:cNvSpPr/>
          <p:nvPr/>
        </p:nvSpPr>
        <p:spPr>
          <a:xfrm>
            <a:off x="1005840" y="2002536"/>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5 drop-off points confirmed (local shops providing item intake locations on agreed terms)</a:t>
            </a:r>
            <a:endParaRPr lang="en-US" sz="1100" dirty="0"/>
          </a:p>
        </p:txBody>
      </p:sp>
      <p:pic>
        <p:nvPicPr>
          <p:cNvPr id="10" name="Image 3" descr="preencoded.png"/>
          <p:cNvPicPr>
            <a:picLocks noChangeAspect="1"/>
          </p:cNvPicPr>
          <p:nvPr/>
        </p:nvPicPr>
        <p:blipFill>
          <a:blip r:embed="rId3"/>
          <a:stretch>
            <a:fillRect/>
          </a:stretch>
        </p:blipFill>
        <p:spPr>
          <a:xfrm>
            <a:off x="548640" y="2523744"/>
            <a:ext cx="274320" cy="274320"/>
          </a:xfrm>
          <a:prstGeom prst="rect">
            <a:avLst/>
          </a:prstGeom>
        </p:spPr>
      </p:pic>
      <p:sp>
        <p:nvSpPr>
          <p:cNvPr id="11" name="Text 5"/>
          <p:cNvSpPr/>
          <p:nvPr/>
        </p:nvSpPr>
        <p:spPr>
          <a:xfrm>
            <a:off x="1005840" y="2478024"/>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20+ potential drop-off locations identified across target London boroughs</a:t>
            </a:r>
            <a:endParaRPr lang="en-US" sz="1100" dirty="0"/>
          </a:p>
        </p:txBody>
      </p:sp>
      <p:pic>
        <p:nvPicPr>
          <p:cNvPr id="12" name="Image 4" descr="preencoded.png"/>
          <p:cNvPicPr>
            <a:picLocks noChangeAspect="1"/>
          </p:cNvPicPr>
          <p:nvPr/>
        </p:nvPicPr>
        <p:blipFill>
          <a:blip r:embed="rId3"/>
          <a:stretch>
            <a:fillRect/>
          </a:stretch>
        </p:blipFill>
        <p:spPr>
          <a:xfrm>
            <a:off x="548640" y="2999232"/>
            <a:ext cx="274320" cy="274320"/>
          </a:xfrm>
          <a:prstGeom prst="rect">
            <a:avLst/>
          </a:prstGeom>
        </p:spPr>
      </p:pic>
      <p:sp>
        <p:nvSpPr>
          <p:cNvPr id="13" name="Text 6"/>
          <p:cNvSpPr/>
          <p:nvPr/>
        </p:nvSpPr>
        <p:spPr>
          <a:xfrm>
            <a:off x="1005840" y="2953512"/>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Initial discussions held with AATF-licensed facilities for e-waste channelling arrangements</a:t>
            </a:r>
            <a:endParaRPr lang="en-US" sz="1100" dirty="0"/>
          </a:p>
        </p:txBody>
      </p:sp>
      <p:pic>
        <p:nvPicPr>
          <p:cNvPr id="14" name="Image 5" descr="preencoded.png"/>
          <p:cNvPicPr>
            <a:picLocks noChangeAspect="1"/>
          </p:cNvPicPr>
          <p:nvPr/>
        </p:nvPicPr>
        <p:blipFill>
          <a:blip r:embed="rId3"/>
          <a:stretch>
            <a:fillRect/>
          </a:stretch>
        </p:blipFill>
        <p:spPr>
          <a:xfrm>
            <a:off x="548640" y="3474720"/>
            <a:ext cx="274320" cy="274320"/>
          </a:xfrm>
          <a:prstGeom prst="rect">
            <a:avLst/>
          </a:prstGeom>
        </p:spPr>
      </p:pic>
      <p:sp>
        <p:nvSpPr>
          <p:cNvPr id="15" name="Text 7"/>
          <p:cNvSpPr/>
          <p:nvPr/>
        </p:nvSpPr>
        <p:spPr>
          <a:xfrm>
            <a:off x="1005840" y="3429000"/>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Brand identity, website (trucycle.co.uk), and social media presence established</a:t>
            </a:r>
            <a:endParaRPr lang="en-US" sz="1100" dirty="0"/>
          </a:p>
        </p:txBody>
      </p:sp>
      <p:pic>
        <p:nvPicPr>
          <p:cNvPr id="16" name="Image 6" descr="preencoded.png"/>
          <p:cNvPicPr>
            <a:picLocks noChangeAspect="1"/>
          </p:cNvPicPr>
          <p:nvPr/>
        </p:nvPicPr>
        <p:blipFill>
          <a:blip r:embed="rId3"/>
          <a:stretch>
            <a:fillRect/>
          </a:stretch>
        </p:blipFill>
        <p:spPr>
          <a:xfrm>
            <a:off x="548640" y="3950208"/>
            <a:ext cx="274320" cy="274320"/>
          </a:xfrm>
          <a:prstGeom prst="rect">
            <a:avLst/>
          </a:prstGeom>
        </p:spPr>
      </p:pic>
      <p:sp>
        <p:nvSpPr>
          <p:cNvPr id="17" name="Text 8"/>
          <p:cNvSpPr/>
          <p:nvPr/>
        </p:nvSpPr>
        <p:spPr>
          <a:xfrm>
            <a:off x="1005840" y="3904488"/>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Business plan refined through multiple iterations with financial projections validated</a:t>
            </a:r>
            <a:endParaRPr lang="en-US" sz="1100" dirty="0"/>
          </a:p>
        </p:txBody>
      </p:sp>
      <p:pic>
        <p:nvPicPr>
          <p:cNvPr id="18" name="Image 7" descr="preencoded.png"/>
          <p:cNvPicPr>
            <a:picLocks noChangeAspect="1"/>
          </p:cNvPicPr>
          <p:nvPr/>
        </p:nvPicPr>
        <p:blipFill>
          <a:blip r:embed="rId3"/>
          <a:stretch>
            <a:fillRect/>
          </a:stretch>
        </p:blipFill>
        <p:spPr>
          <a:xfrm>
            <a:off x="548640" y="4425696"/>
            <a:ext cx="274320" cy="274320"/>
          </a:xfrm>
          <a:prstGeom prst="rect">
            <a:avLst/>
          </a:prstGeom>
        </p:spPr>
      </p:pic>
      <p:sp>
        <p:nvSpPr>
          <p:cNvPr id="19" name="Text 9"/>
          <p:cNvSpPr/>
          <p:nvPr/>
        </p:nvSpPr>
        <p:spPr>
          <a:xfrm>
            <a:off x="1005840" y="4379976"/>
            <a:ext cx="7589520" cy="411480"/>
          </a:xfrm>
          <a:prstGeom prst="rect">
            <a:avLst/>
          </a:prstGeom>
          <a:noFill/>
          <a:ln/>
        </p:spPr>
        <p:txBody>
          <a:bodyPr wrap="square" lIns="0" tIns="0" rIns="0" bIns="0" rtlCol="0" anchor="ctr"/>
          <a:lstStyle/>
          <a:p>
            <a:pPr marL="0" indent="0">
              <a:buNone/>
            </a:pPr>
            <a:r>
              <a:rPr lang="en-US" sz="1100" dirty="0">
                <a:solidFill>
                  <a:srgbClr val="1E1E1E"/>
                </a:solidFill>
                <a:latin typeface="Calibri" pitchFamily="34" charset="0"/>
                <a:ea typeface="Calibri" pitchFamily="34" charset="-122"/>
                <a:cs typeface="Calibri" pitchFamily="34" charset="-120"/>
              </a:rPr>
              <a:t>Waitlist growing with early user registrations via website</a:t>
            </a:r>
            <a:endParaRPr lang="en-US" sz="1100" dirty="0"/>
          </a:p>
        </p:txBody>
      </p:sp>
      <p:sp>
        <p:nvSpPr>
          <p:cNvPr id="20" name="Text 10"/>
          <p:cNvSpPr/>
          <p:nvPr/>
        </p:nvSpPr>
        <p:spPr>
          <a:xfrm>
            <a:off x="457200" y="4663440"/>
            <a:ext cx="8229600" cy="274320"/>
          </a:xfrm>
          <a:prstGeom prst="rect">
            <a:avLst/>
          </a:prstGeom>
          <a:noFill/>
          <a:ln/>
        </p:spPr>
        <p:txBody>
          <a:bodyPr wrap="square" lIns="0" tIns="0" rIns="0" bIns="0" rtlCol="0" anchor="ctr"/>
          <a:lstStyle/>
          <a:p>
            <a:pPr marL="0" indent="0">
              <a:buNone/>
            </a:pPr>
            <a:r>
              <a:rPr lang="en-US" sz="900" i="1" dirty="0">
                <a:solidFill>
                  <a:srgbClr val="5C6B63"/>
                </a:solidFill>
                <a:latin typeface="Calibri" pitchFamily="34" charset="0"/>
                <a:ea typeface="Calibri" pitchFamily="34" charset="-122"/>
                <a:cs typeface="Calibri" pitchFamily="34" charset="-120"/>
              </a:rPr>
              <a:t>Note: TruCycle has not yet commenced trading. The platform launch and commencement of trading is planned for circa March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200" dirty="0">
                <a:solidFill>
                  <a:srgbClr val="4CAF50"/>
                </a:solidFill>
                <a:latin typeface="Arial Black" pitchFamily="34" charset="0"/>
                <a:ea typeface="Arial Black" pitchFamily="34" charset="-122"/>
                <a:cs typeface="Arial Black" pitchFamily="34" charset="-120"/>
              </a:rPr>
              <a:t>INTELLECTUAL PROPERTY &amp; STRUCTURE</a:t>
            </a:r>
            <a:endParaRPr lang="en-US" sz="2200" dirty="0"/>
          </a:p>
        </p:txBody>
      </p:sp>
      <p:sp>
        <p:nvSpPr>
          <p:cNvPr id="4" name="Shape 2"/>
          <p:cNvSpPr/>
          <p:nvPr/>
        </p:nvSpPr>
        <p:spPr>
          <a:xfrm>
            <a:off x="274320" y="960120"/>
            <a:ext cx="420624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5" name="Text 3"/>
          <p:cNvSpPr/>
          <p:nvPr/>
        </p:nvSpPr>
        <p:spPr>
          <a:xfrm>
            <a:off x="457200" y="1005840"/>
            <a:ext cx="3840480" cy="274320"/>
          </a:xfrm>
          <a:prstGeom prst="rect">
            <a:avLst/>
          </a:prstGeom>
          <a:noFill/>
          <a:ln/>
        </p:spPr>
        <p:txBody>
          <a:bodyPr wrap="square" lIns="0" tIns="0" rIns="0" bIns="0" rtlCol="0" anchor="ctr"/>
          <a:lstStyle/>
          <a:p>
            <a:pPr marL="0" indent="0">
              <a:buNone/>
            </a:pPr>
            <a:r>
              <a:rPr lang="en-US" sz="1300" b="1" dirty="0">
                <a:solidFill>
                  <a:srgbClr val="2D7A4F"/>
                </a:solidFill>
                <a:latin typeface="Calibri" pitchFamily="34" charset="0"/>
                <a:ea typeface="Calibri" pitchFamily="34" charset="-122"/>
                <a:cs typeface="Calibri" pitchFamily="34" charset="-120"/>
              </a:rPr>
              <a:t>Platform Technology &amp; Software</a:t>
            </a:r>
            <a:endParaRPr lang="en-US" sz="1300" dirty="0"/>
          </a:p>
        </p:txBody>
      </p:sp>
      <p:sp>
        <p:nvSpPr>
          <p:cNvPr id="6" name="Text 4"/>
          <p:cNvSpPr/>
          <p:nvPr/>
        </p:nvSpPr>
        <p:spPr>
          <a:xfrm>
            <a:off x="457200" y="1280160"/>
            <a:ext cx="3840480" cy="1097280"/>
          </a:xfrm>
          <a:prstGeom prst="rect">
            <a:avLst/>
          </a:prstGeom>
          <a:noFill/>
          <a:ln/>
        </p:spPr>
        <p:txBody>
          <a:bodyPr wrap="square" rtlCol="0" anchor="ctr"/>
          <a:lstStyle/>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Proprietary consumer collection platform with integrated booking, tracking and reward systems</a:t>
            </a:r>
            <a:endParaRPr lang="en-US" sz="900" dirty="0"/>
          </a:p>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Exchange/ marketplace algorithms for device grading, pricing and inventory </a:t>
            </a:r>
            <a:r>
              <a:rPr lang="en-US" sz="900" dirty="0" err="1">
                <a:solidFill>
                  <a:srgbClr val="1E1E1E"/>
                </a:solidFill>
                <a:latin typeface="Calibri" pitchFamily="34" charset="0"/>
                <a:ea typeface="Calibri" pitchFamily="34" charset="-122"/>
                <a:cs typeface="Calibri" pitchFamily="34" charset="-120"/>
              </a:rPr>
              <a:t>optimisation</a:t>
            </a:r>
            <a:endParaRPr lang="en-US" sz="900" dirty="0"/>
          </a:p>
        </p:txBody>
      </p:sp>
      <p:sp>
        <p:nvSpPr>
          <p:cNvPr id="7" name="Shape 5"/>
          <p:cNvSpPr/>
          <p:nvPr/>
        </p:nvSpPr>
        <p:spPr>
          <a:xfrm>
            <a:off x="4663440" y="960120"/>
            <a:ext cx="4206240" cy="1463040"/>
          </a:xfrm>
          <a:prstGeom prst="rect">
            <a:avLst/>
          </a:prstGeom>
          <a:solidFill>
            <a:srgbClr val="E8F5E9"/>
          </a:solidFill>
          <a:ln/>
          <a:effectLst>
            <a:outerShdw blurRad="50800" dist="25400" dir="8100000" algn="bl" rotWithShape="0">
              <a:srgbClr val="000000">
                <a:alpha val="10000"/>
              </a:srgbClr>
            </a:outerShdw>
          </a:effectLst>
        </p:spPr>
        <p:txBody>
          <a:bodyPr/>
          <a:lstStyle/>
          <a:p>
            <a:endParaRPr lang="en-GB"/>
          </a:p>
        </p:txBody>
      </p:sp>
      <p:sp>
        <p:nvSpPr>
          <p:cNvPr id="8" name="Text 6"/>
          <p:cNvSpPr/>
          <p:nvPr/>
        </p:nvSpPr>
        <p:spPr>
          <a:xfrm>
            <a:off x="4846320" y="1005840"/>
            <a:ext cx="3840480" cy="274320"/>
          </a:xfrm>
          <a:prstGeom prst="rect">
            <a:avLst/>
          </a:prstGeom>
          <a:noFill/>
          <a:ln/>
        </p:spPr>
        <p:txBody>
          <a:bodyPr wrap="square" lIns="0" tIns="0" rIns="0" bIns="0"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Brand &amp; Design Assets</a:t>
            </a:r>
            <a:endParaRPr lang="en-US" sz="1300" dirty="0"/>
          </a:p>
        </p:txBody>
      </p:sp>
      <p:sp>
        <p:nvSpPr>
          <p:cNvPr id="9" name="Text 7"/>
          <p:cNvSpPr/>
          <p:nvPr/>
        </p:nvSpPr>
        <p:spPr>
          <a:xfrm>
            <a:off x="4846320" y="1280160"/>
            <a:ext cx="3840480" cy="1097280"/>
          </a:xfrm>
          <a:prstGeom prst="rect">
            <a:avLst/>
          </a:prstGeom>
          <a:noFill/>
          <a:ln/>
        </p:spPr>
        <p:txBody>
          <a:bodyPr wrap="square" rtlCol="0" anchor="ctr"/>
          <a:lstStyle/>
          <a:p>
            <a:pPr marL="0" indent="0">
              <a:spcAft>
                <a:spcPts val="200"/>
              </a:spcAft>
              <a:buNone/>
            </a:pPr>
            <a:r>
              <a:rPr lang="en-US" sz="850" dirty="0">
                <a:solidFill>
                  <a:srgbClr val="1E1E1E"/>
                </a:solidFill>
                <a:latin typeface="Calibri" pitchFamily="34" charset="0"/>
                <a:ea typeface="Calibri" pitchFamily="34" charset="-122"/>
                <a:cs typeface="Calibri" pitchFamily="34" charset="-120"/>
              </a:rPr>
              <a:t>TruCycle wordmark and logo registered as UK trademark (application filed)</a:t>
            </a:r>
            <a:endParaRPr lang="en-US" sz="850" dirty="0"/>
          </a:p>
          <a:p>
            <a:pPr marL="0" indent="0">
              <a:spcAft>
                <a:spcPts val="200"/>
              </a:spcAft>
              <a:buNone/>
            </a:pPr>
            <a:r>
              <a:rPr lang="en-US" sz="850" dirty="0">
                <a:solidFill>
                  <a:srgbClr val="1E1E1E"/>
                </a:solidFill>
                <a:latin typeface="Calibri" pitchFamily="34" charset="0"/>
                <a:ea typeface="Calibri" pitchFamily="34" charset="-122"/>
                <a:cs typeface="Calibri" pitchFamily="34" charset="-120"/>
              </a:rPr>
              <a:t>Domain names secured: trucycle.co.uk, and social media handles.</a:t>
            </a:r>
            <a:endParaRPr lang="en-US" sz="850" dirty="0"/>
          </a:p>
          <a:p>
            <a:pPr marL="0" indent="0">
              <a:spcAft>
                <a:spcPts val="200"/>
              </a:spcAft>
              <a:buNone/>
            </a:pPr>
            <a:r>
              <a:rPr lang="en-US" sz="850" dirty="0">
                <a:solidFill>
                  <a:srgbClr val="1E1E1E"/>
                </a:solidFill>
                <a:latin typeface="Calibri" pitchFamily="34" charset="0"/>
                <a:ea typeface="Calibri" pitchFamily="34" charset="-122"/>
                <a:cs typeface="Calibri" pitchFamily="34" charset="-120"/>
              </a:rPr>
              <a:t>Bespoke UI/UX designs and brand identity assets created.</a:t>
            </a:r>
            <a:endParaRPr lang="en-US" sz="850" dirty="0"/>
          </a:p>
        </p:txBody>
      </p:sp>
      <p:sp>
        <p:nvSpPr>
          <p:cNvPr id="10" name="Shape 8"/>
          <p:cNvSpPr/>
          <p:nvPr/>
        </p:nvSpPr>
        <p:spPr>
          <a:xfrm>
            <a:off x="274320" y="2606040"/>
            <a:ext cx="420624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1" name="Text 9"/>
          <p:cNvSpPr/>
          <p:nvPr/>
        </p:nvSpPr>
        <p:spPr>
          <a:xfrm>
            <a:off x="457200" y="2651760"/>
            <a:ext cx="3840480" cy="274320"/>
          </a:xfrm>
          <a:prstGeom prst="rect">
            <a:avLst/>
          </a:prstGeom>
          <a:noFill/>
          <a:ln/>
        </p:spPr>
        <p:txBody>
          <a:bodyPr wrap="square" lIns="0" tIns="0" rIns="0" bIns="0"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Data &amp; Proprietary Processes</a:t>
            </a:r>
            <a:endParaRPr lang="en-US" sz="1300" dirty="0"/>
          </a:p>
        </p:txBody>
      </p:sp>
      <p:sp>
        <p:nvSpPr>
          <p:cNvPr id="12" name="Text 10"/>
          <p:cNvSpPr/>
          <p:nvPr/>
        </p:nvSpPr>
        <p:spPr>
          <a:xfrm>
            <a:off x="457200" y="2926080"/>
            <a:ext cx="3840480" cy="1097280"/>
          </a:xfrm>
          <a:prstGeom prst="rect">
            <a:avLst/>
          </a:prstGeom>
          <a:noFill/>
          <a:ln/>
        </p:spPr>
        <p:txBody>
          <a:bodyPr wrap="square" rtlCol="0" anchor="ctr"/>
          <a:lstStyle/>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Proprietary device condition data and grading algorithms built from collection activity</a:t>
            </a:r>
            <a:endParaRPr lang="en-US" sz="900" dirty="0"/>
          </a:p>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Collection methodologies developed in-house</a:t>
            </a:r>
            <a:endParaRPr lang="en-US" sz="900" dirty="0"/>
          </a:p>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WEEE compliance </a:t>
            </a:r>
            <a:r>
              <a:rPr lang="en-US" sz="900" dirty="0" err="1">
                <a:solidFill>
                  <a:srgbClr val="1E1E1E"/>
                </a:solidFill>
                <a:latin typeface="Calibri" pitchFamily="34" charset="0"/>
                <a:ea typeface="Calibri" pitchFamily="34" charset="-122"/>
                <a:cs typeface="Calibri" pitchFamily="34" charset="-120"/>
              </a:rPr>
              <a:t>behaviour</a:t>
            </a:r>
            <a:r>
              <a:rPr lang="en-US" sz="900" dirty="0">
                <a:solidFill>
                  <a:srgbClr val="1E1E1E"/>
                </a:solidFill>
                <a:latin typeface="Calibri" pitchFamily="34" charset="0"/>
                <a:ea typeface="Calibri" pitchFamily="34" charset="-122"/>
                <a:cs typeface="Calibri" pitchFamily="34" charset="-120"/>
              </a:rPr>
              <a:t> analytics for pricing models</a:t>
            </a:r>
            <a:endParaRPr lang="en-US" sz="900" dirty="0"/>
          </a:p>
        </p:txBody>
      </p:sp>
      <p:sp>
        <p:nvSpPr>
          <p:cNvPr id="13" name="Shape 11"/>
          <p:cNvSpPr/>
          <p:nvPr/>
        </p:nvSpPr>
        <p:spPr>
          <a:xfrm>
            <a:off x="4663440" y="2606040"/>
            <a:ext cx="4206240" cy="1463040"/>
          </a:xfrm>
          <a:prstGeom prst="rect">
            <a:avLst/>
          </a:prstGeom>
          <a:solidFill>
            <a:srgbClr val="E3F2FD"/>
          </a:solidFill>
          <a:ln/>
          <a:effectLst>
            <a:outerShdw blurRad="50800" dist="25400" dir="8100000" algn="bl" rotWithShape="0">
              <a:srgbClr val="000000">
                <a:alpha val="10000"/>
              </a:srgbClr>
            </a:outerShdw>
          </a:effectLst>
        </p:spPr>
        <p:txBody>
          <a:bodyPr/>
          <a:lstStyle/>
          <a:p>
            <a:endParaRPr lang="en-GB"/>
          </a:p>
        </p:txBody>
      </p:sp>
      <p:sp>
        <p:nvSpPr>
          <p:cNvPr id="14" name="Text 12"/>
          <p:cNvSpPr/>
          <p:nvPr/>
        </p:nvSpPr>
        <p:spPr>
          <a:xfrm>
            <a:off x="4846320" y="2651760"/>
            <a:ext cx="3840480" cy="274320"/>
          </a:xfrm>
          <a:prstGeom prst="rect">
            <a:avLst/>
          </a:prstGeom>
          <a:noFill/>
          <a:ln/>
        </p:spPr>
        <p:txBody>
          <a:bodyPr wrap="square" lIns="0" tIns="0" rIns="0" bIns="0" rtlCol="0" anchor="ctr"/>
          <a:lstStyle/>
          <a:p>
            <a:pPr marL="0" indent="0">
              <a:buNone/>
            </a:pPr>
            <a:r>
              <a:rPr lang="en-US" sz="1300" b="1" dirty="0">
                <a:solidFill>
                  <a:srgbClr val="00695C"/>
                </a:solidFill>
                <a:latin typeface="Calibri" pitchFamily="34" charset="0"/>
                <a:ea typeface="Calibri" pitchFamily="34" charset="-122"/>
                <a:cs typeface="Calibri" pitchFamily="34" charset="-120"/>
              </a:rPr>
              <a:t>IP Protection Strategy</a:t>
            </a:r>
            <a:endParaRPr lang="en-US" sz="1300" dirty="0"/>
          </a:p>
        </p:txBody>
      </p:sp>
      <p:sp>
        <p:nvSpPr>
          <p:cNvPr id="15" name="Text 13"/>
          <p:cNvSpPr/>
          <p:nvPr/>
        </p:nvSpPr>
        <p:spPr>
          <a:xfrm>
            <a:off x="4846320" y="2926080"/>
            <a:ext cx="3840480" cy="1097280"/>
          </a:xfrm>
          <a:prstGeom prst="rect">
            <a:avLst/>
          </a:prstGeom>
          <a:noFill/>
          <a:ln/>
        </p:spPr>
        <p:txBody>
          <a:bodyPr wrap="square" rtlCol="0" anchor="ctr"/>
          <a:lstStyle/>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All IP developed by founders and contractors under assignment agreements; no third-party licences required</a:t>
            </a:r>
            <a:endParaRPr lang="en-US" sz="850" dirty="0"/>
          </a:p>
          <a:p>
            <a:pPr marL="0" indent="0">
              <a:spcAft>
                <a:spcPts val="200"/>
              </a:spcAft>
              <a:buNone/>
            </a:pPr>
            <a:r>
              <a:rPr lang="en-US" sz="850" dirty="0">
                <a:solidFill>
                  <a:srgbClr val="1E1E1E"/>
                </a:solidFill>
                <a:latin typeface="Calibri" pitchFamily="34" charset="0"/>
                <a:ea typeface="Calibri" pitchFamily="34" charset="-122"/>
                <a:cs typeface="Calibri" pitchFamily="34" charset="-120"/>
              </a:rPr>
              <a:t>Source code held in private repositories with access controls and version history</a:t>
            </a:r>
            <a:endParaRPr lang="en-US" sz="850" dirty="0"/>
          </a:p>
          <a:p>
            <a:pPr marL="0" indent="0">
              <a:spcAft>
                <a:spcPts val="200"/>
              </a:spcAft>
              <a:buNone/>
            </a:pPr>
            <a:r>
              <a:rPr lang="en-US" sz="850" dirty="0">
                <a:solidFill>
                  <a:srgbClr val="1E1E1E"/>
                </a:solidFill>
                <a:latin typeface="Calibri" pitchFamily="34" charset="0"/>
                <a:ea typeface="Calibri" pitchFamily="34" charset="-122"/>
                <a:cs typeface="Calibri" pitchFamily="34" charset="-120"/>
              </a:rPr>
              <a:t>Company structured as single UK Ltd; all IP owned by TruCycle Ltd directly</a:t>
            </a:r>
            <a:endParaRPr lang="en-US" sz="850" dirty="0"/>
          </a:p>
          <a:p>
            <a:pPr marL="0" indent="0">
              <a:spcAft>
                <a:spcPts val="200"/>
              </a:spcAft>
              <a:buNone/>
            </a:pPr>
            <a:r>
              <a:rPr lang="en-US" sz="850" dirty="0">
                <a:solidFill>
                  <a:srgbClr val="1E1E1E"/>
                </a:solidFill>
                <a:latin typeface="Calibri" pitchFamily="34" charset="0"/>
                <a:ea typeface="Calibri" pitchFamily="34" charset="-122"/>
                <a:cs typeface="Calibri" pitchFamily="34" charset="-120"/>
              </a:rPr>
              <a:t>NDAs and confidentiality clauses in all contractor and supplier agreements</a:t>
            </a:r>
            <a:endParaRPr lang="en-US" sz="850" dirty="0"/>
          </a:p>
        </p:txBody>
      </p:sp>
      <p:sp>
        <p:nvSpPr>
          <p:cNvPr id="16" name="Text 14"/>
          <p:cNvSpPr/>
          <p:nvPr/>
        </p:nvSpPr>
        <p:spPr>
          <a:xfrm>
            <a:off x="274320" y="4297680"/>
            <a:ext cx="8595360" cy="457200"/>
          </a:xfrm>
          <a:prstGeom prst="rect">
            <a:avLst/>
          </a:prstGeom>
          <a:noFill/>
          <a:ln/>
        </p:spPr>
        <p:txBody>
          <a:bodyPr wrap="square" lIns="0" tIns="0" rIns="0" bIns="0" rtlCol="0" anchor="ctr"/>
          <a:lstStyle/>
          <a:p>
            <a:pPr marL="0" indent="0">
              <a:buNone/>
            </a:pPr>
            <a:r>
              <a:rPr lang="en-US" sz="1000" b="1" i="1" dirty="0">
                <a:solidFill>
                  <a:srgbClr val="2D7A4F"/>
                </a:solidFill>
                <a:latin typeface="Calibri" pitchFamily="34" charset="0"/>
                <a:ea typeface="Calibri" pitchFamily="34" charset="-122"/>
                <a:cs typeface="Calibri" pitchFamily="34" charset="-120"/>
              </a:rPr>
              <a:t>All intellectual property is owned by TruCycle Ltd. The company structure ensures IP remains within a single UK entity, supporting SEIS/EIS qualifying conditions (pending HMRC approval).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200" dirty="0">
                <a:solidFill>
                  <a:srgbClr val="4CAF50"/>
                </a:solidFill>
                <a:latin typeface="Arial Black" pitchFamily="34" charset="0"/>
                <a:ea typeface="Arial Black" pitchFamily="34" charset="-122"/>
                <a:cs typeface="Arial Black" pitchFamily="34" charset="-120"/>
              </a:rPr>
              <a:t>BUSINESS MODEL &amp; REVENUE STREAMS</a:t>
            </a:r>
            <a:endParaRPr lang="en-US" sz="2200" dirty="0"/>
          </a:p>
        </p:txBody>
      </p:sp>
      <p:sp>
        <p:nvSpPr>
          <p:cNvPr id="4" name="Shape 2"/>
          <p:cNvSpPr/>
          <p:nvPr/>
        </p:nvSpPr>
        <p:spPr>
          <a:xfrm>
            <a:off x="480060" y="1143000"/>
            <a:ext cx="2514600" cy="3108960"/>
          </a:xfrm>
          <a:prstGeom prst="roundRect">
            <a:avLst>
              <a:gd name="adj" fmla="val 4364"/>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5" name="Shape 3"/>
          <p:cNvSpPr/>
          <p:nvPr/>
        </p:nvSpPr>
        <p:spPr>
          <a:xfrm>
            <a:off x="489204" y="1152144"/>
            <a:ext cx="2496312" cy="64008"/>
          </a:xfrm>
          <a:prstGeom prst="rect">
            <a:avLst/>
          </a:prstGeom>
          <a:solidFill>
            <a:srgbClr val="2D7A4F"/>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1508760" y="1417320"/>
            <a:ext cx="457200" cy="457200"/>
          </a:xfrm>
          <a:prstGeom prst="rect">
            <a:avLst/>
          </a:prstGeom>
        </p:spPr>
      </p:pic>
      <p:sp>
        <p:nvSpPr>
          <p:cNvPr id="7" name="Text 4"/>
          <p:cNvSpPr/>
          <p:nvPr/>
        </p:nvSpPr>
        <p:spPr>
          <a:xfrm>
            <a:off x="617220" y="2011680"/>
            <a:ext cx="2240280" cy="365760"/>
          </a:xfrm>
          <a:prstGeom prst="rect">
            <a:avLst/>
          </a:prstGeom>
          <a:noFill/>
          <a:ln/>
        </p:spPr>
        <p:txBody>
          <a:bodyPr wrap="square" lIns="0" tIns="0" rIns="0" bIns="0" rtlCol="0" anchor="ctr"/>
          <a:lstStyle/>
          <a:p>
            <a:pPr marL="0" indent="0" algn="ctr">
              <a:buNone/>
            </a:pPr>
            <a:r>
              <a:rPr lang="en-US" sz="1200" dirty="0">
                <a:solidFill>
                  <a:srgbClr val="2D7A4F"/>
                </a:solidFill>
                <a:latin typeface="Arial Black" pitchFamily="34" charset="0"/>
                <a:ea typeface="Arial Black" pitchFamily="34" charset="-122"/>
                <a:cs typeface="Arial Black" pitchFamily="34" charset="-120"/>
              </a:rPr>
              <a:t>SUBSCRIPTION SERVICE</a:t>
            </a:r>
            <a:endParaRPr lang="en-US" sz="1200" dirty="0"/>
          </a:p>
        </p:txBody>
      </p:sp>
      <p:sp>
        <p:nvSpPr>
          <p:cNvPr id="8" name="Text 5"/>
          <p:cNvSpPr/>
          <p:nvPr/>
        </p:nvSpPr>
        <p:spPr>
          <a:xfrm>
            <a:off x="662940" y="2468880"/>
            <a:ext cx="2148840" cy="1554480"/>
          </a:xfrm>
          <a:prstGeom prst="rect">
            <a:avLst/>
          </a:prstGeom>
          <a:noFill/>
          <a:ln/>
        </p:spPr>
        <p:txBody>
          <a:bodyPr wrap="square" lIns="0" tIns="0" rIns="0" bIns="0" rtlCol="0" anchor="ctr"/>
          <a:lstStyle/>
          <a:p>
            <a:pPr marL="0" indent="0" algn="ctr">
              <a:lnSpc>
                <a:spcPts val="1600"/>
              </a:lnSpc>
              <a:buNone/>
            </a:pPr>
            <a:r>
              <a:rPr lang="en-US" sz="1100" dirty="0">
                <a:solidFill>
                  <a:srgbClr val="1E1E1E"/>
                </a:solidFill>
                <a:latin typeface="Calibri" pitchFamily="34" charset="0"/>
                <a:ea typeface="Calibri" pitchFamily="34" charset="-122"/>
                <a:cs typeface="Calibri" pitchFamily="34" charset="-120"/>
              </a:rPr>
              <a:t>Our subscription service offers customers convenient waste collection, encouraging responsible disposal and promoting engagement in circular economy practices.</a:t>
            </a:r>
            <a:endParaRPr lang="en-US" sz="1100" dirty="0"/>
          </a:p>
        </p:txBody>
      </p:sp>
      <p:sp>
        <p:nvSpPr>
          <p:cNvPr id="9" name="Shape 6"/>
          <p:cNvSpPr/>
          <p:nvPr/>
        </p:nvSpPr>
        <p:spPr>
          <a:xfrm>
            <a:off x="3314700" y="1143000"/>
            <a:ext cx="2514600" cy="3108960"/>
          </a:xfrm>
          <a:prstGeom prst="roundRect">
            <a:avLst>
              <a:gd name="adj" fmla="val 4364"/>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0" name="Shape 7"/>
          <p:cNvSpPr/>
          <p:nvPr/>
        </p:nvSpPr>
        <p:spPr>
          <a:xfrm>
            <a:off x="3323844" y="1152144"/>
            <a:ext cx="2496312" cy="64008"/>
          </a:xfrm>
          <a:prstGeom prst="rect">
            <a:avLst/>
          </a:prstGeom>
          <a:solidFill>
            <a:srgbClr val="4CAF50"/>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4343400" y="1417320"/>
            <a:ext cx="457200" cy="457200"/>
          </a:xfrm>
          <a:prstGeom prst="rect">
            <a:avLst/>
          </a:prstGeom>
        </p:spPr>
      </p:pic>
      <p:sp>
        <p:nvSpPr>
          <p:cNvPr id="12" name="Text 8"/>
          <p:cNvSpPr/>
          <p:nvPr/>
        </p:nvSpPr>
        <p:spPr>
          <a:xfrm>
            <a:off x="3451860" y="2011680"/>
            <a:ext cx="2240280" cy="365760"/>
          </a:xfrm>
          <a:prstGeom prst="rect">
            <a:avLst/>
          </a:prstGeom>
          <a:noFill/>
          <a:ln/>
        </p:spPr>
        <p:txBody>
          <a:bodyPr wrap="square" lIns="0" tIns="0" rIns="0" bIns="0" rtlCol="0" anchor="ctr"/>
          <a:lstStyle/>
          <a:p>
            <a:pPr marL="0" indent="0" algn="ctr">
              <a:buNone/>
            </a:pPr>
            <a:r>
              <a:rPr lang="en-US" sz="1200" dirty="0">
                <a:solidFill>
                  <a:srgbClr val="2D7A4F"/>
                </a:solidFill>
                <a:latin typeface="Arial Black" pitchFamily="34" charset="0"/>
                <a:ea typeface="Arial Black" pitchFamily="34" charset="-122"/>
                <a:cs typeface="Arial Black" pitchFamily="34" charset="-120"/>
              </a:rPr>
              <a:t>PLATFORM SALES</a:t>
            </a:r>
            <a:endParaRPr lang="en-US" sz="1200" dirty="0"/>
          </a:p>
        </p:txBody>
      </p:sp>
      <p:sp>
        <p:nvSpPr>
          <p:cNvPr id="13" name="Text 9"/>
          <p:cNvSpPr/>
          <p:nvPr/>
        </p:nvSpPr>
        <p:spPr>
          <a:xfrm>
            <a:off x="3497580" y="2468880"/>
            <a:ext cx="2148840" cy="1554480"/>
          </a:xfrm>
          <a:prstGeom prst="rect">
            <a:avLst/>
          </a:prstGeom>
          <a:noFill/>
          <a:ln/>
        </p:spPr>
        <p:txBody>
          <a:bodyPr wrap="square" lIns="0" tIns="0" rIns="0" bIns="0" rtlCol="0" anchor="ctr"/>
          <a:lstStyle/>
          <a:p>
            <a:pPr marL="0" indent="0" algn="ctr">
              <a:lnSpc>
                <a:spcPts val="1600"/>
              </a:lnSpc>
              <a:buNone/>
            </a:pPr>
            <a:r>
              <a:rPr lang="en-US" sz="1100" dirty="0">
                <a:solidFill>
                  <a:srgbClr val="1E1E1E"/>
                </a:solidFill>
                <a:latin typeface="Calibri" pitchFamily="34" charset="0"/>
                <a:ea typeface="Calibri" pitchFamily="34" charset="-122"/>
                <a:cs typeface="Calibri" pitchFamily="34" charset="-120"/>
              </a:rPr>
              <a:t>The TruCycle platform will directly sell upcycled furniture and repaired electronics via its e-commerce section and social media.</a:t>
            </a:r>
            <a:endParaRPr lang="en-US" sz="1100" dirty="0"/>
          </a:p>
        </p:txBody>
      </p:sp>
      <p:sp>
        <p:nvSpPr>
          <p:cNvPr id="14" name="Shape 10"/>
          <p:cNvSpPr/>
          <p:nvPr/>
        </p:nvSpPr>
        <p:spPr>
          <a:xfrm>
            <a:off x="6149340" y="1143000"/>
            <a:ext cx="2514600" cy="3108960"/>
          </a:xfrm>
          <a:prstGeom prst="roundRect">
            <a:avLst>
              <a:gd name="adj" fmla="val 4364"/>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5" name="Shape 11"/>
          <p:cNvSpPr/>
          <p:nvPr/>
        </p:nvSpPr>
        <p:spPr>
          <a:xfrm>
            <a:off x="6158484" y="1152144"/>
            <a:ext cx="2496312" cy="64008"/>
          </a:xfrm>
          <a:prstGeom prst="rect">
            <a:avLst/>
          </a:prstGeom>
          <a:solidFill>
            <a:srgbClr val="E8812B"/>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7178040" y="1417320"/>
            <a:ext cx="457200" cy="457200"/>
          </a:xfrm>
          <a:prstGeom prst="rect">
            <a:avLst/>
          </a:prstGeom>
        </p:spPr>
      </p:pic>
      <p:sp>
        <p:nvSpPr>
          <p:cNvPr id="17" name="Text 12"/>
          <p:cNvSpPr/>
          <p:nvPr/>
        </p:nvSpPr>
        <p:spPr>
          <a:xfrm>
            <a:off x="6286500" y="2011680"/>
            <a:ext cx="2240280" cy="365760"/>
          </a:xfrm>
          <a:prstGeom prst="rect">
            <a:avLst/>
          </a:prstGeom>
          <a:noFill/>
          <a:ln/>
        </p:spPr>
        <p:txBody>
          <a:bodyPr wrap="square" lIns="0" tIns="0" rIns="0" bIns="0" rtlCol="0" anchor="ctr"/>
          <a:lstStyle/>
          <a:p>
            <a:pPr marL="0" indent="0" algn="ctr">
              <a:buNone/>
            </a:pPr>
            <a:r>
              <a:rPr lang="en-US" sz="1200" dirty="0">
                <a:solidFill>
                  <a:srgbClr val="2D7A4F"/>
                </a:solidFill>
                <a:latin typeface="Arial Black" pitchFamily="34" charset="0"/>
                <a:ea typeface="Arial Black" pitchFamily="34" charset="-122"/>
                <a:cs typeface="Arial Black" pitchFamily="34" charset="-120"/>
              </a:rPr>
              <a:t>WEEE COMPLIANCE SERVICE</a:t>
            </a:r>
            <a:endParaRPr lang="en-US" sz="1200" dirty="0"/>
          </a:p>
        </p:txBody>
      </p:sp>
      <p:sp>
        <p:nvSpPr>
          <p:cNvPr id="18" name="Text 13"/>
          <p:cNvSpPr/>
          <p:nvPr/>
        </p:nvSpPr>
        <p:spPr>
          <a:xfrm>
            <a:off x="6332220" y="2468880"/>
            <a:ext cx="2148840" cy="1554480"/>
          </a:xfrm>
          <a:prstGeom prst="rect">
            <a:avLst/>
          </a:prstGeom>
          <a:noFill/>
          <a:ln/>
        </p:spPr>
        <p:txBody>
          <a:bodyPr wrap="square" lIns="0" tIns="0" rIns="0" bIns="0" rtlCol="0" anchor="ctr"/>
          <a:lstStyle/>
          <a:p>
            <a:pPr marL="0" indent="0" algn="ctr">
              <a:lnSpc>
                <a:spcPts val="1600"/>
              </a:lnSpc>
              <a:buNone/>
            </a:pPr>
            <a:r>
              <a:rPr lang="en-US" sz="1100" dirty="0">
                <a:solidFill>
                  <a:srgbClr val="1E1E1E"/>
                </a:solidFill>
                <a:latin typeface="Calibri" pitchFamily="34" charset="0"/>
                <a:ea typeface="Calibri" pitchFamily="34" charset="-122"/>
                <a:cs typeface="Calibri" pitchFamily="34" charset="-120"/>
              </a:rPr>
              <a:t>TruCycle will provide households and businesses with comprehensive WEEE compliance service, ensuring they meet regulatory requirements while contributing to sustainable waste management solutions.</a:t>
            </a:r>
            <a:endParaRPr lang="en-US" sz="1100" dirty="0"/>
          </a:p>
        </p:txBody>
      </p:sp>
      <p:sp>
        <p:nvSpPr>
          <p:cNvPr id="19" name="Text 14"/>
          <p:cNvSpPr/>
          <p:nvPr/>
        </p:nvSpPr>
        <p:spPr>
          <a:xfrm>
            <a:off x="457200" y="4572000"/>
            <a:ext cx="8229600" cy="274320"/>
          </a:xfrm>
          <a:prstGeom prst="rect">
            <a:avLst/>
          </a:prstGeom>
          <a:noFill/>
          <a:ln/>
        </p:spPr>
        <p:txBody>
          <a:bodyPr wrap="square" lIns="0" tIns="0" rIns="0" bIns="0" rtlCol="0" anchor="ctr"/>
          <a:lstStyle/>
          <a:p>
            <a:pPr marL="0" indent="0" algn="ctr">
              <a:buNone/>
            </a:pPr>
            <a:r>
              <a:rPr lang="en-US" sz="900" i="1" dirty="0">
                <a:solidFill>
                  <a:srgbClr val="5C6B63"/>
                </a:solidFill>
                <a:latin typeface="Calibri" pitchFamily="34" charset="0"/>
                <a:ea typeface="Calibri" pitchFamily="34" charset="-122"/>
                <a:cs typeface="Calibri" pitchFamily="34" charset="-120"/>
              </a:rPr>
              <a:t>TruCycle operates a diversified revenue model across subscriptions, marketplace commissions, B2B services, and compliance.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COMPETITIVE LANDSCAPE</a:t>
            </a:r>
            <a:endParaRPr lang="en-US" sz="2400" dirty="0"/>
          </a:p>
        </p:txBody>
      </p:sp>
      <p:sp>
        <p:nvSpPr>
          <p:cNvPr id="4" name="Text 2"/>
          <p:cNvSpPr/>
          <p:nvPr/>
        </p:nvSpPr>
        <p:spPr>
          <a:xfrm>
            <a:off x="457200" y="960120"/>
            <a:ext cx="8229600" cy="320040"/>
          </a:xfrm>
          <a:prstGeom prst="rect">
            <a:avLst/>
          </a:prstGeom>
          <a:noFill/>
          <a:ln/>
        </p:spPr>
        <p:txBody>
          <a:bodyPr wrap="square" lIns="0" tIns="0" rIns="0" bIns="0" rtlCol="0" anchor="ctr"/>
          <a:lstStyle/>
          <a:p>
            <a:pPr marL="0" indent="0">
              <a:buNone/>
            </a:pPr>
            <a:r>
              <a:rPr lang="en-US" sz="1300" i="1" dirty="0">
                <a:solidFill>
                  <a:srgbClr val="1E1E1E"/>
                </a:solidFill>
                <a:latin typeface="Calibri" pitchFamily="34" charset="0"/>
                <a:ea typeface="Calibri" pitchFamily="34" charset="-122"/>
                <a:cs typeface="Calibri" pitchFamily="34" charset="-120"/>
              </a:rPr>
              <a:t>How TruCycle is different and better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8138160" cy="288036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000" b="1" dirty="0">
                          <a:solidFill>
                            <a:srgbClr val="FFFFFF"/>
                          </a:solidFill>
                        </a:rPr>
                        <a:t>Price</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000" b="1" dirty="0">
                          <a:solidFill>
                            <a:srgbClr val="FFFFFF"/>
                          </a:solidFill>
                        </a:rPr>
                        <a:t>Collection</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000" b="1" dirty="0">
                          <a:solidFill>
                            <a:srgbClr val="FFFFFF"/>
                          </a:solidFill>
                        </a:rPr>
                        <a:t>Marketplace</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000" b="1" dirty="0">
                          <a:solidFill>
                            <a:srgbClr val="FFFFFF"/>
                          </a:solidFill>
                        </a:rPr>
                        <a:t>E-Waste Compliance</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000" b="1" dirty="0">
                          <a:solidFill>
                            <a:srgbClr val="FFFFFF"/>
                          </a:solidFill>
                        </a:rPr>
                        <a:t>Upcycling</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extLst>
                  <a:ext uri="{0D108BD9-81ED-4DB2-BD59-A6C34878D82A}">
                    <a16:rowId xmlns:a16="http://schemas.microsoft.com/office/drawing/2014/main" val="10000"/>
                  </a:ext>
                </a:extLst>
              </a:tr>
              <a:tr h="457200">
                <a:tc>
                  <a:txBody>
                    <a:bodyPr/>
                    <a:lstStyle/>
                    <a:p>
                      <a:pPr marL="0" indent="0">
                        <a:buNone/>
                      </a:pPr>
                      <a:r>
                        <a:rPr lang="en-US" sz="950" b="1" dirty="0">
                          <a:solidFill>
                            <a:srgbClr val="2D7A4F"/>
                          </a:solidFill>
                        </a:rPr>
                        <a:t>TruCycle</a:t>
                      </a:r>
                      <a:endParaRPr lang="en-US" sz="9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1E1E1E"/>
                          </a:solidFill>
                        </a:rPr>
                        <a:t>Free 50kg + £10/mo</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1E1E1E"/>
                          </a:solidFill>
                        </a:rPr>
                        <a:t>Same-day possible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1E1E1E"/>
                          </a:solidFill>
                        </a:rPr>
                        <a:t>P2P + Refurbished</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1E1E1E"/>
                          </a:solidFill>
                        </a:rPr>
                        <a:t>AATF channelling</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1E1E1E"/>
                          </a:solidFill>
                        </a:rPr>
                        <a:t>In-house + Artists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411480">
                <a:tc>
                  <a:txBody>
                    <a:bodyPr/>
                    <a:lstStyle/>
                    <a:p>
                      <a:pPr marL="0" indent="0">
                        <a:buNone/>
                      </a:pPr>
                      <a:r>
                        <a:rPr lang="en-US" sz="950" b="1" dirty="0">
                          <a:solidFill>
                            <a:srgbClr val="1E1E1E"/>
                          </a:solidFill>
                        </a:rPr>
                        <a:t>Council Services</a:t>
                      </a:r>
                      <a:endParaRPr lang="en-US" sz="9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£30-50 per pickup</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2-4 week wait</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Basic</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950" b="1" dirty="0">
                          <a:solidFill>
                            <a:srgbClr val="1E1E1E"/>
                          </a:solidFill>
                        </a:rPr>
                        <a:t>AnyJunk/Clearabee</a:t>
                      </a:r>
                      <a:endParaRPr lang="en-US" sz="9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£80-200+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Same day (paid)</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950" b="1" dirty="0">
                          <a:solidFill>
                            <a:srgbClr val="1E1E1E"/>
                          </a:solidFill>
                        </a:rPr>
                        <a:t>Facebook Marketplace</a:t>
                      </a:r>
                      <a:endParaRPr lang="en-US" sz="9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Free listings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 (self-serve)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P2P only</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950" b="1" dirty="0">
                          <a:solidFill>
                            <a:srgbClr val="1E1E1E"/>
                          </a:solidFill>
                        </a:rPr>
                        <a:t>British Heart Foundation</a:t>
                      </a:r>
                      <a:endParaRPr lang="en-US" sz="9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Free (selective)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Declining acceptance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Charity shop only</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950" b="1" dirty="0">
                          <a:solidFill>
                            <a:srgbClr val="1E1E1E"/>
                          </a:solidFill>
                        </a:rPr>
                        <a:t>Gumtree/Freecycle</a:t>
                      </a:r>
                      <a:endParaRPr lang="en-US" sz="9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Free listings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 (self-serve)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P2P only</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None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457200" y="4480560"/>
            <a:ext cx="8229600" cy="365760"/>
          </a:xfrm>
          <a:prstGeom prst="rect">
            <a:avLst/>
          </a:prstGeom>
          <a:noFill/>
          <a:ln/>
        </p:spPr>
        <p:txBody>
          <a:bodyPr wrap="square" lIns="0" tIns="0" rIns="0" bIns="0" rtlCol="0" anchor="ctr"/>
          <a:lstStyle/>
          <a:p>
            <a:pPr marL="0" indent="0">
              <a:buNone/>
            </a:pPr>
            <a:r>
              <a:rPr lang="en-US" sz="1000" b="1" dirty="0">
                <a:solidFill>
                  <a:srgbClr val="2D7A4F"/>
                </a:solidFill>
                <a:latin typeface="Calibri" pitchFamily="34" charset="0"/>
                <a:ea typeface="Calibri" pitchFamily="34" charset="-122"/>
                <a:cs typeface="Calibri" pitchFamily="34" charset="-120"/>
              </a:rPr>
              <a:t>TruCycle is the only platform combining free collection, P2P marketplace, professional upcycling, and regulatory compliance in a single integrated service.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GO-TO-MARKET STRATEGY</a:t>
            </a:r>
            <a:endParaRPr lang="en-US" sz="2400" dirty="0"/>
          </a:p>
        </p:txBody>
      </p:sp>
      <p:sp>
        <p:nvSpPr>
          <p:cNvPr id="4" name="Shape 2"/>
          <p:cNvSpPr/>
          <p:nvPr/>
        </p:nvSpPr>
        <p:spPr>
          <a:xfrm>
            <a:off x="457200" y="1005840"/>
            <a:ext cx="822960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5" name="Shape 3"/>
          <p:cNvSpPr/>
          <p:nvPr/>
        </p:nvSpPr>
        <p:spPr>
          <a:xfrm>
            <a:off x="457200" y="1005840"/>
            <a:ext cx="73152" cy="1097280"/>
          </a:xfrm>
          <a:prstGeom prst="rect">
            <a:avLst/>
          </a:prstGeom>
          <a:solidFill>
            <a:srgbClr val="2D7A4F"/>
          </a:solidFill>
          <a:ln/>
        </p:spPr>
        <p:txBody>
          <a:bodyPr/>
          <a:lstStyle/>
          <a:p>
            <a:endParaRPr lang="en-GB"/>
          </a:p>
        </p:txBody>
      </p:sp>
      <p:sp>
        <p:nvSpPr>
          <p:cNvPr id="6" name="Text 4"/>
          <p:cNvSpPr/>
          <p:nvPr/>
        </p:nvSpPr>
        <p:spPr>
          <a:xfrm>
            <a:off x="731520" y="1051560"/>
            <a:ext cx="7772400" cy="320040"/>
          </a:xfrm>
          <a:prstGeom prst="rect">
            <a:avLst/>
          </a:prstGeom>
          <a:noFill/>
          <a:ln/>
        </p:spPr>
        <p:txBody>
          <a:bodyPr wrap="square" lIns="0" tIns="0" rIns="0" bIns="0" rtlCol="0" anchor="ctr"/>
          <a:lstStyle/>
          <a:p>
            <a:pPr marL="0" indent="0">
              <a:buNone/>
            </a:pPr>
            <a:r>
              <a:rPr lang="en-US" sz="1300" b="1" dirty="0">
                <a:solidFill>
                  <a:srgbClr val="2D7A4F"/>
                </a:solidFill>
                <a:latin typeface="Calibri" pitchFamily="34" charset="0"/>
                <a:ea typeface="Calibri" pitchFamily="34" charset="-122"/>
                <a:cs typeface="Calibri" pitchFamily="34" charset="-120"/>
              </a:rPr>
              <a:t>Phase 1: London Launch (Q2 2026)</a:t>
            </a:r>
            <a:endParaRPr lang="en-US" sz="1300" dirty="0"/>
          </a:p>
        </p:txBody>
      </p:sp>
      <p:sp>
        <p:nvSpPr>
          <p:cNvPr id="7" name="Text 5"/>
          <p:cNvSpPr/>
          <p:nvPr/>
        </p:nvSpPr>
        <p:spPr>
          <a:xfrm>
            <a:off x="731520" y="1353312"/>
            <a:ext cx="7772400" cy="685800"/>
          </a:xfrm>
          <a:prstGeom prst="rect">
            <a:avLst/>
          </a:prstGeom>
          <a:noFill/>
          <a:ln/>
        </p:spPr>
        <p:txBody>
          <a:bodyPr wrap="square" rtlCol="0" anchor="t"/>
          <a:lstStyle/>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Soft launch in 3-4 boroughs (Hackney, Tower Hamlets, Southwark, Lambeth)</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5 confirmed retail drop-off points (local shops providing item intake on agreed terms)</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2 collection vans, 4 drivers/crew</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Target: 5,000 registered users by end of Q2 2026</a:t>
            </a:r>
            <a:endParaRPr lang="en-US" sz="1000" dirty="0"/>
          </a:p>
        </p:txBody>
      </p:sp>
      <p:sp>
        <p:nvSpPr>
          <p:cNvPr id="8" name="Shape 6"/>
          <p:cNvSpPr/>
          <p:nvPr/>
        </p:nvSpPr>
        <p:spPr>
          <a:xfrm>
            <a:off x="457200" y="2286000"/>
            <a:ext cx="822960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9" name="Shape 7"/>
          <p:cNvSpPr/>
          <p:nvPr/>
        </p:nvSpPr>
        <p:spPr>
          <a:xfrm>
            <a:off x="457200" y="2286000"/>
            <a:ext cx="73152" cy="1097280"/>
          </a:xfrm>
          <a:prstGeom prst="rect">
            <a:avLst/>
          </a:prstGeom>
          <a:solidFill>
            <a:srgbClr val="2D7A4F"/>
          </a:solidFill>
          <a:ln/>
        </p:spPr>
        <p:txBody>
          <a:bodyPr/>
          <a:lstStyle/>
          <a:p>
            <a:endParaRPr lang="en-GB"/>
          </a:p>
        </p:txBody>
      </p:sp>
      <p:sp>
        <p:nvSpPr>
          <p:cNvPr id="10" name="Text 8"/>
          <p:cNvSpPr/>
          <p:nvPr/>
        </p:nvSpPr>
        <p:spPr>
          <a:xfrm>
            <a:off x="731520" y="2331720"/>
            <a:ext cx="7772400" cy="320040"/>
          </a:xfrm>
          <a:prstGeom prst="rect">
            <a:avLst/>
          </a:prstGeom>
          <a:noFill/>
          <a:ln/>
        </p:spPr>
        <p:txBody>
          <a:bodyPr wrap="square" lIns="0" tIns="0" rIns="0" bIns="0" rtlCol="0" anchor="ctr"/>
          <a:lstStyle/>
          <a:p>
            <a:pPr marL="0" indent="0">
              <a:buNone/>
            </a:pPr>
            <a:r>
              <a:rPr lang="en-US" sz="1300" b="1" dirty="0">
                <a:solidFill>
                  <a:srgbClr val="2D7A4F"/>
                </a:solidFill>
                <a:latin typeface="Calibri" pitchFamily="34" charset="0"/>
                <a:ea typeface="Calibri" pitchFamily="34" charset="-122"/>
                <a:cs typeface="Calibri" pitchFamily="34" charset="-120"/>
              </a:rPr>
              <a:t>Phase 2: London Expansion (Q3-Q4 2026)</a:t>
            </a:r>
            <a:endParaRPr lang="en-US" sz="1300" dirty="0"/>
          </a:p>
        </p:txBody>
      </p:sp>
      <p:sp>
        <p:nvSpPr>
          <p:cNvPr id="11" name="Text 9"/>
          <p:cNvSpPr/>
          <p:nvPr/>
        </p:nvSpPr>
        <p:spPr>
          <a:xfrm>
            <a:off x="731520" y="2633472"/>
            <a:ext cx="7772400" cy="685800"/>
          </a:xfrm>
          <a:prstGeom prst="rect">
            <a:avLst/>
          </a:prstGeom>
          <a:noFill/>
          <a:ln/>
        </p:spPr>
        <p:txBody>
          <a:bodyPr wrap="square" rtlCol="0" anchor="t"/>
          <a:lstStyle/>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Expand to all 33 London boroughs</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Launch B2B services for SMEs</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Open first studio warehouse for upcycling operations</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20 retail drop-off points; AATF e-waste channelling arrangement live</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Target: 15,000 users by end of Q4 2026</a:t>
            </a:r>
            <a:endParaRPr lang="en-US" sz="1000" dirty="0"/>
          </a:p>
        </p:txBody>
      </p:sp>
      <p:sp>
        <p:nvSpPr>
          <p:cNvPr id="12" name="Shape 10"/>
          <p:cNvSpPr/>
          <p:nvPr/>
        </p:nvSpPr>
        <p:spPr>
          <a:xfrm>
            <a:off x="457200" y="3566160"/>
            <a:ext cx="822960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3" name="Shape 11"/>
          <p:cNvSpPr/>
          <p:nvPr/>
        </p:nvSpPr>
        <p:spPr>
          <a:xfrm>
            <a:off x="457200" y="3566160"/>
            <a:ext cx="73152" cy="1097280"/>
          </a:xfrm>
          <a:prstGeom prst="rect">
            <a:avLst/>
          </a:prstGeom>
          <a:solidFill>
            <a:srgbClr val="2D7A4F"/>
          </a:solidFill>
          <a:ln/>
        </p:spPr>
        <p:txBody>
          <a:bodyPr/>
          <a:lstStyle/>
          <a:p>
            <a:endParaRPr lang="en-GB"/>
          </a:p>
        </p:txBody>
      </p:sp>
      <p:sp>
        <p:nvSpPr>
          <p:cNvPr id="14" name="Text 12"/>
          <p:cNvSpPr/>
          <p:nvPr/>
        </p:nvSpPr>
        <p:spPr>
          <a:xfrm>
            <a:off x="731520" y="3611880"/>
            <a:ext cx="7772400" cy="320040"/>
          </a:xfrm>
          <a:prstGeom prst="rect">
            <a:avLst/>
          </a:prstGeom>
          <a:noFill/>
          <a:ln/>
        </p:spPr>
        <p:txBody>
          <a:bodyPr wrap="square" lIns="0" tIns="0" rIns="0" bIns="0" rtlCol="0" anchor="ctr"/>
          <a:lstStyle/>
          <a:p>
            <a:pPr marL="0" indent="0">
              <a:buNone/>
            </a:pPr>
            <a:r>
              <a:rPr lang="en-US" sz="1300" b="1" dirty="0">
                <a:solidFill>
                  <a:srgbClr val="2D7A4F"/>
                </a:solidFill>
                <a:latin typeface="Calibri" pitchFamily="34" charset="0"/>
                <a:ea typeface="Calibri" pitchFamily="34" charset="-122"/>
                <a:cs typeface="Calibri" pitchFamily="34" charset="-120"/>
              </a:rPr>
              <a:t>Phase 3: Multi-City (Year 2+)</a:t>
            </a:r>
            <a:endParaRPr lang="en-US" sz="1300" dirty="0"/>
          </a:p>
        </p:txBody>
      </p:sp>
      <p:sp>
        <p:nvSpPr>
          <p:cNvPr id="15" name="Text 13"/>
          <p:cNvSpPr/>
          <p:nvPr/>
        </p:nvSpPr>
        <p:spPr>
          <a:xfrm>
            <a:off x="731520" y="3913632"/>
            <a:ext cx="7772400" cy="685800"/>
          </a:xfrm>
          <a:prstGeom prst="rect">
            <a:avLst/>
          </a:prstGeom>
          <a:noFill/>
          <a:ln/>
        </p:spPr>
        <p:txBody>
          <a:bodyPr wrap="square" rtlCol="0" anchor="t"/>
          <a:lstStyle/>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Birmingham launch (Q1 2027), Manchester (Q2 2027)</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Replicate London operational model with local service providers</a:t>
            </a:r>
            <a:endParaRPr lang="en-US" sz="1000" dirty="0"/>
          </a:p>
          <a:p>
            <a:pPr marL="342900" indent="-342900">
              <a:spcAft>
                <a:spcPts val="200"/>
              </a:spcAft>
              <a:buSzPct val="100000"/>
              <a:buChar char="•"/>
            </a:pPr>
            <a:r>
              <a:rPr lang="en-US" sz="1000" dirty="0">
                <a:solidFill>
                  <a:srgbClr val="1E1E1E"/>
                </a:solidFill>
                <a:latin typeface="Calibri" pitchFamily="34" charset="0"/>
                <a:ea typeface="Calibri" pitchFamily="34" charset="-122"/>
                <a:cs typeface="Calibri" pitchFamily="34" charset="-120"/>
              </a:rPr>
              <a:t>Target: 85,000 users across 4 cities by end of Year 2</a:t>
            </a:r>
            <a:endParaRPr lang="en-US" sz="1000" dirty="0"/>
          </a:p>
        </p:txBody>
      </p:sp>
      <p:sp>
        <p:nvSpPr>
          <p:cNvPr id="16" name="Text 14"/>
          <p:cNvSpPr/>
          <p:nvPr/>
        </p:nvSpPr>
        <p:spPr>
          <a:xfrm>
            <a:off x="457200" y="4709160"/>
            <a:ext cx="8229600" cy="274320"/>
          </a:xfrm>
          <a:prstGeom prst="rect">
            <a:avLst/>
          </a:prstGeom>
          <a:noFill/>
          <a:ln/>
        </p:spPr>
        <p:txBody>
          <a:bodyPr wrap="square" lIns="0" tIns="0" rIns="0" bIns="0" rtlCol="0" anchor="ctr"/>
          <a:lstStyle/>
          <a:p>
            <a:pPr marL="0" indent="0">
              <a:buNone/>
            </a:pPr>
            <a:r>
              <a:rPr lang="en-US" sz="900" dirty="0">
                <a:solidFill>
                  <a:srgbClr val="5C6B63"/>
                </a:solidFill>
                <a:latin typeface="Calibri" pitchFamily="34" charset="0"/>
                <a:ea typeface="Calibri" pitchFamily="34" charset="-122"/>
                <a:cs typeface="Calibri" pitchFamily="34" charset="-120"/>
              </a:rPr>
              <a:t>Marketing: Social/content (£35K), Local outreach (£25K), Paid digital (£40K), PR (£15K), Referrals (£5K) | Blended CAC target: £5-8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OPERATIONS &amp; INFRASTRUCTURE</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3840480" cy="181356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rPr>
                        <a:t>Metric</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100" b="1" dirty="0">
                          <a:solidFill>
                            <a:srgbClr val="FFFFFF"/>
                          </a:solidFill>
                        </a:rPr>
                        <a:t>Year 1</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100" b="1" dirty="0">
                          <a:solidFill>
                            <a:srgbClr val="FFFFFF"/>
                          </a:solidFill>
                        </a:rPr>
                        <a:t>Year 3</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1E1E1E"/>
                          </a:solidFill>
                        </a:rPr>
                        <a:t>Collection Vans</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5</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30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1E1E1E"/>
                          </a:solidFill>
                        </a:rPr>
                        <a:t>Drivers/Crew</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10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70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1E1E1E"/>
                          </a:solidFill>
                        </a:rPr>
                        <a:t>Drop-off Locations</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20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120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1E1E1E"/>
                          </a:solidFill>
                        </a:rPr>
                        <a:t>Studio Warehouses</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1</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6</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1E1E1E"/>
                          </a:solidFill>
                        </a:rPr>
                        <a:t>Collections/Month</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1,500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14,000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1E1E1E"/>
                          </a:solidFill>
                        </a:rPr>
                        <a:t>Avg Cost/Collection</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£28</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1E1E"/>
                          </a:solidFill>
                        </a:rPr>
                        <a:t>£20</a:t>
                      </a:r>
                      <a:endParaRPr lang="en-US" sz="11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6"/>
                  </a:ext>
                </a:extLst>
              </a:tr>
            </a:tbl>
          </a:graphicData>
        </a:graphic>
      </p:graphicFrame>
      <p:sp>
        <p:nvSpPr>
          <p:cNvPr id="5" name="Shape 2"/>
          <p:cNvSpPr/>
          <p:nvPr/>
        </p:nvSpPr>
        <p:spPr>
          <a:xfrm>
            <a:off x="4754880" y="1051560"/>
            <a:ext cx="393192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6" name="Text 3"/>
          <p:cNvSpPr/>
          <p:nvPr/>
        </p:nvSpPr>
        <p:spPr>
          <a:xfrm>
            <a:off x="4937760" y="1143000"/>
            <a:ext cx="3566160" cy="320040"/>
          </a:xfrm>
          <a:prstGeom prst="rect">
            <a:avLst/>
          </a:prstGeom>
          <a:noFill/>
          <a:ln/>
        </p:spPr>
        <p:txBody>
          <a:bodyPr wrap="square" lIns="0" tIns="0" rIns="0" bIns="0" rtlCol="0" anchor="ctr"/>
          <a:lstStyle/>
          <a:p>
            <a:pPr marL="0" indent="0">
              <a:buNone/>
            </a:pPr>
            <a:r>
              <a:rPr lang="en-US" sz="1400" b="1" dirty="0">
                <a:solidFill>
                  <a:srgbClr val="2D7A4F"/>
                </a:solidFill>
                <a:latin typeface="Calibri" pitchFamily="34" charset="0"/>
                <a:ea typeface="Calibri" pitchFamily="34" charset="-122"/>
                <a:cs typeface="Calibri" pitchFamily="34" charset="-120"/>
              </a:rPr>
              <a:t>Item Triage Flow</a:t>
            </a:r>
            <a:endParaRPr lang="en-US" sz="1400" dirty="0"/>
          </a:p>
        </p:txBody>
      </p:sp>
      <p:sp>
        <p:nvSpPr>
          <p:cNvPr id="7" name="Text 4"/>
          <p:cNvSpPr/>
          <p:nvPr/>
        </p:nvSpPr>
        <p:spPr>
          <a:xfrm>
            <a:off x="4937760" y="1554480"/>
            <a:ext cx="3566160" cy="2560320"/>
          </a:xfrm>
          <a:prstGeom prst="rect">
            <a:avLst/>
          </a:prstGeom>
          <a:noFill/>
          <a:ln/>
        </p:spPr>
        <p:txBody>
          <a:bodyPr wrap="square" rtlCol="0" anchor="ctr"/>
          <a:lstStyle/>
          <a:p>
            <a:pPr marL="342900" indent="-342900">
              <a:spcAft>
                <a:spcPts val="600"/>
              </a:spcAft>
              <a:buSzPct val="100000"/>
              <a:buChar char="•"/>
            </a:pPr>
            <a:r>
              <a:rPr lang="en-US" sz="1000" dirty="0">
                <a:solidFill>
                  <a:srgbClr val="1E1E1E"/>
                </a:solidFill>
                <a:latin typeface="Calibri" pitchFamily="34" charset="0"/>
                <a:ea typeface="Calibri" pitchFamily="34" charset="-122"/>
                <a:cs typeface="Calibri" pitchFamily="34" charset="-120"/>
              </a:rPr>
              <a:t>Grade A (25%): Resale ready - direct to marketplace</a:t>
            </a:r>
            <a:endParaRPr lang="en-US" sz="1000" dirty="0"/>
          </a:p>
          <a:p>
            <a:pPr marL="342900" indent="-342900">
              <a:spcAft>
                <a:spcPts val="600"/>
              </a:spcAft>
              <a:buSzPct val="100000"/>
              <a:buChar char="•"/>
            </a:pPr>
            <a:r>
              <a:rPr lang="en-US" sz="1000" dirty="0">
                <a:solidFill>
                  <a:srgbClr val="1E1E1E"/>
                </a:solidFill>
                <a:latin typeface="Calibri" pitchFamily="34" charset="0"/>
                <a:ea typeface="Calibri" pitchFamily="34" charset="-122"/>
                <a:cs typeface="Calibri" pitchFamily="34" charset="-120"/>
              </a:rPr>
              <a:t>Grade B (15%): Needs refurbishment - in-house upcycle team</a:t>
            </a:r>
            <a:endParaRPr lang="en-US" sz="1000" dirty="0"/>
          </a:p>
          <a:p>
            <a:pPr marL="342900" indent="-342900">
              <a:spcAft>
                <a:spcPts val="600"/>
              </a:spcAft>
              <a:buSzPct val="100000"/>
              <a:buChar char="•"/>
            </a:pPr>
            <a:r>
              <a:rPr lang="en-US" sz="1000" dirty="0">
                <a:solidFill>
                  <a:srgbClr val="1E1E1E"/>
                </a:solidFill>
                <a:latin typeface="Calibri" pitchFamily="34" charset="0"/>
                <a:ea typeface="Calibri" pitchFamily="34" charset="-122"/>
                <a:cs typeface="Calibri" pitchFamily="34" charset="-120"/>
              </a:rPr>
              <a:t>Grade C (2%): Artist potential - flagged for commissioned works</a:t>
            </a:r>
            <a:endParaRPr lang="en-US" sz="1000" dirty="0"/>
          </a:p>
          <a:p>
            <a:pPr marL="342900" indent="-342900">
              <a:spcAft>
                <a:spcPts val="600"/>
              </a:spcAft>
              <a:buSzPct val="100000"/>
              <a:buChar char="•"/>
            </a:pPr>
            <a:r>
              <a:rPr lang="en-US" sz="1000" dirty="0">
                <a:solidFill>
                  <a:srgbClr val="1E1E1E"/>
                </a:solidFill>
                <a:latin typeface="Calibri" pitchFamily="34" charset="0"/>
                <a:ea typeface="Calibri" pitchFamily="34" charset="-122"/>
                <a:cs typeface="Calibri" pitchFamily="34" charset="-120"/>
              </a:rPr>
              <a:t>Grade D (40%): Recyclable - sent to specialist recyclers</a:t>
            </a:r>
            <a:endParaRPr lang="en-US" sz="1000" dirty="0"/>
          </a:p>
          <a:p>
            <a:pPr marL="342900" indent="-342900">
              <a:spcAft>
                <a:spcPts val="600"/>
              </a:spcAft>
              <a:buSzPct val="100000"/>
              <a:buChar char="•"/>
            </a:pPr>
            <a:r>
              <a:rPr lang="en-US" sz="1000" dirty="0">
                <a:solidFill>
                  <a:srgbClr val="1E1E1E"/>
                </a:solidFill>
                <a:latin typeface="Calibri" pitchFamily="34" charset="0"/>
                <a:ea typeface="Calibri" pitchFamily="34" charset="-122"/>
                <a:cs typeface="Calibri" pitchFamily="34" charset="-120"/>
              </a:rPr>
              <a:t>Grade E (15%): E-waste - channelled to AATF-licensed facility</a:t>
            </a:r>
            <a:endParaRPr lang="en-US" sz="1000" dirty="0"/>
          </a:p>
          <a:p>
            <a:pPr marL="342900" indent="-342900">
              <a:spcAft>
                <a:spcPts val="600"/>
              </a:spcAft>
              <a:buSzPct val="100000"/>
              <a:buChar char="•"/>
            </a:pPr>
            <a:r>
              <a:rPr lang="en-US" sz="1000" dirty="0">
                <a:solidFill>
                  <a:srgbClr val="1E1E1E"/>
                </a:solidFill>
                <a:latin typeface="Calibri" pitchFamily="34" charset="0"/>
                <a:ea typeface="Calibri" pitchFamily="34" charset="-122"/>
                <a:cs typeface="Calibri" pitchFamily="34" charset="-120"/>
              </a:rPr>
              <a:t>Grade F (3%): Disposal - responsible waste disposal</a:t>
            </a:r>
            <a:endParaRPr lang="en-US" sz="1000" dirty="0"/>
          </a:p>
        </p:txBody>
      </p:sp>
      <p:sp>
        <p:nvSpPr>
          <p:cNvPr id="8" name="Text 5"/>
          <p:cNvSpPr/>
          <p:nvPr/>
        </p:nvSpPr>
        <p:spPr>
          <a:xfrm>
            <a:off x="457200" y="4434840"/>
            <a:ext cx="8229600" cy="457200"/>
          </a:xfrm>
          <a:prstGeom prst="rect">
            <a:avLst/>
          </a:prstGeom>
          <a:noFill/>
          <a:ln/>
        </p:spPr>
        <p:txBody>
          <a:bodyPr wrap="square" lIns="0" tIns="0" rIns="0" bIns="0" rtlCol="0" anchor="ctr"/>
          <a:lstStyle/>
          <a:p>
            <a:pPr marL="0" indent="0">
              <a:buNone/>
            </a:pPr>
            <a:r>
              <a:rPr lang="en-US" sz="850" i="1" dirty="0">
                <a:solidFill>
                  <a:srgbClr val="5C6B63"/>
                </a:solidFill>
                <a:latin typeface="Calibri" pitchFamily="34" charset="0"/>
                <a:ea typeface="Calibri" pitchFamily="34" charset="-122"/>
                <a:cs typeface="Calibri" pitchFamily="34" charset="-120"/>
              </a:rPr>
              <a:t>Note: All third-party service providers (e.g. local shops providing drop-off space, AATF-licensed facilities processing e-waste, and specialist recyclers handling materials) are independent entities engaged on arm's-length commercial terms. These are supplier/service arrangements, not joint ventures or combined business entities. No service provider is an investor in, or otherwise connected to any investor in, TruCycle.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200" dirty="0">
                <a:solidFill>
                  <a:srgbClr val="4CAF50"/>
                </a:solidFill>
                <a:latin typeface="Arial Black" pitchFamily="34" charset="0"/>
                <a:ea typeface="Arial Black" pitchFamily="34" charset="-122"/>
                <a:cs typeface="Arial Black" pitchFamily="34" charset="-120"/>
              </a:rPr>
              <a:t>RISK TO CAPITAL: SWOT ANALYSIS</a:t>
            </a:r>
            <a:endParaRPr lang="en-US" sz="2200" dirty="0"/>
          </a:p>
        </p:txBody>
      </p:sp>
      <p:sp>
        <p:nvSpPr>
          <p:cNvPr id="4" name="Shape 2"/>
          <p:cNvSpPr/>
          <p:nvPr/>
        </p:nvSpPr>
        <p:spPr>
          <a:xfrm>
            <a:off x="274320" y="960120"/>
            <a:ext cx="420624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5" name="Text 3"/>
          <p:cNvSpPr/>
          <p:nvPr/>
        </p:nvSpPr>
        <p:spPr>
          <a:xfrm>
            <a:off x="457200" y="1005840"/>
            <a:ext cx="3840480" cy="274320"/>
          </a:xfrm>
          <a:prstGeom prst="rect">
            <a:avLst/>
          </a:prstGeom>
          <a:noFill/>
          <a:ln/>
        </p:spPr>
        <p:txBody>
          <a:bodyPr wrap="square" lIns="0" tIns="0" rIns="0" bIns="0" rtlCol="0" anchor="ctr"/>
          <a:lstStyle/>
          <a:p>
            <a:pPr marL="0" indent="0">
              <a:buNone/>
            </a:pPr>
            <a:r>
              <a:rPr lang="en-US" sz="1300" b="1" dirty="0">
                <a:solidFill>
                  <a:srgbClr val="2D7A4F"/>
                </a:solidFill>
                <a:latin typeface="Calibri" pitchFamily="34" charset="0"/>
                <a:ea typeface="Calibri" pitchFamily="34" charset="-122"/>
                <a:cs typeface="Calibri" pitchFamily="34" charset="-120"/>
              </a:rPr>
              <a:t>Strengths</a:t>
            </a:r>
            <a:endParaRPr lang="en-US" sz="1300" dirty="0"/>
          </a:p>
        </p:txBody>
      </p:sp>
      <p:sp>
        <p:nvSpPr>
          <p:cNvPr id="6" name="Text 4"/>
          <p:cNvSpPr/>
          <p:nvPr/>
        </p:nvSpPr>
        <p:spPr>
          <a:xfrm>
            <a:off x="457200" y="1280160"/>
            <a:ext cx="3840480" cy="1097280"/>
          </a:xfrm>
          <a:prstGeom prst="rect">
            <a:avLst/>
          </a:prstGeom>
          <a:noFill/>
          <a:ln/>
        </p:spPr>
        <p:txBody>
          <a:bodyPr wrap="square" rtlCol="0" anchor="ctr"/>
          <a:lstStyle/>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1. Multi-sided platform with 10 diversified revenue streams reduces single-source dependency</a:t>
            </a:r>
            <a:endParaRPr lang="en-US" sz="900" dirty="0"/>
          </a:p>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2. Regulatory moat through AATF/PCS e-waste channelling creates compliance-driven recurring revenue</a:t>
            </a:r>
            <a:endParaRPr lang="en-US" sz="900" dirty="0"/>
          </a:p>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3. Artist upcycling model creates premium brand differentiation and media attention</a:t>
            </a:r>
            <a:endParaRPr lang="en-US" sz="900" dirty="0"/>
          </a:p>
        </p:txBody>
      </p:sp>
      <p:sp>
        <p:nvSpPr>
          <p:cNvPr id="7" name="Shape 5"/>
          <p:cNvSpPr/>
          <p:nvPr/>
        </p:nvSpPr>
        <p:spPr>
          <a:xfrm>
            <a:off x="4663440" y="960120"/>
            <a:ext cx="4206240" cy="1463040"/>
          </a:xfrm>
          <a:prstGeom prst="rect">
            <a:avLst/>
          </a:prstGeom>
          <a:solidFill>
            <a:srgbClr val="FFF3E0"/>
          </a:solidFill>
          <a:ln/>
          <a:effectLst>
            <a:outerShdw blurRad="50800" dist="25400" dir="8100000" algn="bl" rotWithShape="0">
              <a:srgbClr val="000000">
                <a:alpha val="10000"/>
              </a:srgbClr>
            </a:outerShdw>
          </a:effectLst>
        </p:spPr>
        <p:txBody>
          <a:bodyPr/>
          <a:lstStyle/>
          <a:p>
            <a:endParaRPr lang="en-GB"/>
          </a:p>
        </p:txBody>
      </p:sp>
      <p:sp>
        <p:nvSpPr>
          <p:cNvPr id="8" name="Text 6"/>
          <p:cNvSpPr/>
          <p:nvPr/>
        </p:nvSpPr>
        <p:spPr>
          <a:xfrm>
            <a:off x="4846320" y="1005840"/>
            <a:ext cx="3840480" cy="274320"/>
          </a:xfrm>
          <a:prstGeom prst="rect">
            <a:avLst/>
          </a:prstGeom>
          <a:noFill/>
          <a:ln/>
        </p:spPr>
        <p:txBody>
          <a:bodyPr wrap="square" lIns="0" tIns="0" rIns="0" bIns="0" rtlCol="0" anchor="ctr"/>
          <a:lstStyle/>
          <a:p>
            <a:pPr marL="0" indent="0">
              <a:buNone/>
            </a:pPr>
            <a:r>
              <a:rPr lang="en-US" sz="1300" b="1" dirty="0">
                <a:solidFill>
                  <a:srgbClr val="E8812B"/>
                </a:solidFill>
                <a:latin typeface="Calibri" pitchFamily="34" charset="0"/>
                <a:ea typeface="Calibri" pitchFamily="34" charset="-122"/>
                <a:cs typeface="Calibri" pitchFamily="34" charset="-120"/>
              </a:rPr>
              <a:t>Weaknesses</a:t>
            </a:r>
            <a:endParaRPr lang="en-US" sz="1300" dirty="0"/>
          </a:p>
        </p:txBody>
      </p:sp>
      <p:sp>
        <p:nvSpPr>
          <p:cNvPr id="9" name="Text 7"/>
          <p:cNvSpPr/>
          <p:nvPr/>
        </p:nvSpPr>
        <p:spPr>
          <a:xfrm>
            <a:off x="4846320" y="1280160"/>
            <a:ext cx="3840480" cy="1097280"/>
          </a:xfrm>
          <a:prstGeom prst="rect">
            <a:avLst/>
          </a:prstGeom>
          <a:noFill/>
          <a:ln/>
        </p:spPr>
        <p:txBody>
          <a:bodyPr wrap="square" rtlCol="0" anchor="ctr"/>
          <a:lstStyle/>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1. Pre-revenue stage with unproven consumer demand and untested unit economics</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2. High capital intensity for logistics (vans, warehouses, drivers) before revenue scales</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3. Dependency on third-party AATF facilities until own licence is obtained</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4. Limited brand awareness in a market dominated by council services and established clearance firms</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5. Founding team executing across multiple operational functions simultaneously</a:t>
            </a:r>
            <a:endParaRPr lang="en-US" sz="850" dirty="0"/>
          </a:p>
        </p:txBody>
      </p:sp>
      <p:sp>
        <p:nvSpPr>
          <p:cNvPr id="10" name="Shape 8"/>
          <p:cNvSpPr/>
          <p:nvPr/>
        </p:nvSpPr>
        <p:spPr>
          <a:xfrm>
            <a:off x="274320" y="2606040"/>
            <a:ext cx="420624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GB"/>
          </a:p>
        </p:txBody>
      </p:sp>
      <p:sp>
        <p:nvSpPr>
          <p:cNvPr id="11" name="Text 9"/>
          <p:cNvSpPr/>
          <p:nvPr/>
        </p:nvSpPr>
        <p:spPr>
          <a:xfrm>
            <a:off x="457200" y="2651760"/>
            <a:ext cx="3840480" cy="274320"/>
          </a:xfrm>
          <a:prstGeom prst="rect">
            <a:avLst/>
          </a:prstGeom>
          <a:noFill/>
          <a:ln/>
        </p:spPr>
        <p:txBody>
          <a:bodyPr wrap="square" lIns="0" tIns="0" rIns="0" bIns="0"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Opportunities</a:t>
            </a:r>
            <a:endParaRPr lang="en-US" sz="1300" dirty="0"/>
          </a:p>
        </p:txBody>
      </p:sp>
      <p:sp>
        <p:nvSpPr>
          <p:cNvPr id="12" name="Text 10"/>
          <p:cNvSpPr/>
          <p:nvPr/>
        </p:nvSpPr>
        <p:spPr>
          <a:xfrm>
            <a:off x="457200" y="2926080"/>
            <a:ext cx="3840480" cy="1097280"/>
          </a:xfrm>
          <a:prstGeom prst="rect">
            <a:avLst/>
          </a:prstGeom>
          <a:noFill/>
          <a:ln/>
        </p:spPr>
        <p:txBody>
          <a:bodyPr wrap="square" rtlCol="0" anchor="ctr"/>
          <a:lstStyle/>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1. UK WEEE collection gap (40% rate vs 517K tonne target) creates strong compliance demand</a:t>
            </a:r>
            <a:endParaRPr lang="en-US" sz="900" dirty="0"/>
          </a:p>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2. EU Right-to-Repair directive (2024/2026) mandates design for longevity, boosting repair sector</a:t>
            </a:r>
            <a:endParaRPr lang="en-US" sz="900" dirty="0"/>
          </a:p>
          <a:p>
            <a:pPr marL="0" indent="0">
              <a:spcAft>
                <a:spcPts val="300"/>
              </a:spcAft>
              <a:buNone/>
            </a:pPr>
            <a:r>
              <a:rPr lang="en-US" sz="900" dirty="0">
                <a:solidFill>
                  <a:srgbClr val="1E1E1E"/>
                </a:solidFill>
                <a:latin typeface="Calibri" pitchFamily="34" charset="0"/>
                <a:ea typeface="Calibri" pitchFamily="34" charset="-122"/>
                <a:cs typeface="Calibri" pitchFamily="34" charset="-120"/>
              </a:rPr>
              <a:t>3. Secondhand/resale market growing 25x faster than traditional retail, driven by Gen Z/Millennial demand</a:t>
            </a:r>
            <a:endParaRPr lang="en-US" sz="900" dirty="0"/>
          </a:p>
        </p:txBody>
      </p:sp>
      <p:sp>
        <p:nvSpPr>
          <p:cNvPr id="13" name="Shape 11"/>
          <p:cNvSpPr/>
          <p:nvPr/>
        </p:nvSpPr>
        <p:spPr>
          <a:xfrm>
            <a:off x="4663440" y="2606040"/>
            <a:ext cx="4206240" cy="1463040"/>
          </a:xfrm>
          <a:prstGeom prst="rect">
            <a:avLst/>
          </a:prstGeom>
          <a:solidFill>
            <a:srgbClr val="FFEBEE"/>
          </a:solidFill>
          <a:ln/>
          <a:effectLst>
            <a:outerShdw blurRad="50800" dist="25400" dir="8100000" algn="bl" rotWithShape="0">
              <a:srgbClr val="000000">
                <a:alpha val="10000"/>
              </a:srgbClr>
            </a:outerShdw>
          </a:effectLst>
        </p:spPr>
        <p:txBody>
          <a:bodyPr/>
          <a:lstStyle/>
          <a:p>
            <a:endParaRPr lang="en-GB"/>
          </a:p>
        </p:txBody>
      </p:sp>
      <p:sp>
        <p:nvSpPr>
          <p:cNvPr id="14" name="Text 12"/>
          <p:cNvSpPr/>
          <p:nvPr/>
        </p:nvSpPr>
        <p:spPr>
          <a:xfrm>
            <a:off x="4846320" y="2651760"/>
            <a:ext cx="3840480" cy="274320"/>
          </a:xfrm>
          <a:prstGeom prst="rect">
            <a:avLst/>
          </a:prstGeom>
          <a:noFill/>
          <a:ln/>
        </p:spPr>
        <p:txBody>
          <a:bodyPr wrap="square" lIns="0" tIns="0" rIns="0" bIns="0"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Threats</a:t>
            </a:r>
            <a:endParaRPr lang="en-US" sz="1300" dirty="0"/>
          </a:p>
        </p:txBody>
      </p:sp>
      <p:sp>
        <p:nvSpPr>
          <p:cNvPr id="15" name="Text 13"/>
          <p:cNvSpPr/>
          <p:nvPr/>
        </p:nvSpPr>
        <p:spPr>
          <a:xfrm>
            <a:off x="4846320" y="2926080"/>
            <a:ext cx="3840480" cy="1097280"/>
          </a:xfrm>
          <a:prstGeom prst="rect">
            <a:avLst/>
          </a:prstGeom>
          <a:noFill/>
          <a:ln/>
        </p:spPr>
        <p:txBody>
          <a:bodyPr wrap="square" rtlCol="0" anchor="ctr"/>
          <a:lstStyle/>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1. Established waste companies (Veolia, Biffa) could launch competing consumer platforms</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2. Regulatory changes to WEEE/EPR framework could alter compliance revenue model</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3. Consumer behaviour change is slow; free-tier abuse could erode margins</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4. Economic downturn reducing household spending on subscriptions and secondhand purchases</a:t>
            </a:r>
            <a:endParaRPr lang="en-US" sz="850" dirty="0"/>
          </a:p>
          <a:p>
            <a:pPr marL="0" indent="0">
              <a:spcAft>
                <a:spcPts val="100"/>
              </a:spcAft>
              <a:buNone/>
            </a:pPr>
            <a:r>
              <a:rPr lang="en-US" sz="850" dirty="0">
                <a:solidFill>
                  <a:srgbClr val="1E1E1E"/>
                </a:solidFill>
                <a:latin typeface="Calibri" pitchFamily="34" charset="0"/>
                <a:ea typeface="Calibri" pitchFamily="34" charset="-122"/>
                <a:cs typeface="Calibri" pitchFamily="34" charset="-120"/>
              </a:rPr>
              <a:t>5. Lengthy environmental certification timelines and evolving sustainability standards creating compliance uncertainty</a:t>
            </a:r>
            <a:endParaRPr lang="en-US" sz="850" dirty="0"/>
          </a:p>
        </p:txBody>
      </p:sp>
      <p:sp>
        <p:nvSpPr>
          <p:cNvPr id="16" name="Text 14"/>
          <p:cNvSpPr/>
          <p:nvPr/>
        </p:nvSpPr>
        <p:spPr>
          <a:xfrm>
            <a:off x="274320" y="4297680"/>
            <a:ext cx="8595360" cy="457200"/>
          </a:xfrm>
          <a:prstGeom prst="rect">
            <a:avLst/>
          </a:prstGeom>
          <a:noFill/>
          <a:ln/>
        </p:spPr>
        <p:txBody>
          <a:bodyPr wrap="square" lIns="0" tIns="0" rIns="0" bIns="0" rtlCol="0" anchor="ctr"/>
          <a:lstStyle/>
          <a:p>
            <a:pPr marL="0" indent="0">
              <a:buNone/>
            </a:pPr>
            <a:r>
              <a:rPr lang="en-US" sz="1000" b="1" i="1" dirty="0">
                <a:solidFill>
                  <a:srgbClr val="2D7A4F"/>
                </a:solidFill>
                <a:latin typeface="Calibri" pitchFamily="34" charset="0"/>
                <a:ea typeface="Calibri" pitchFamily="34" charset="-122"/>
                <a:cs typeface="Calibri" pitchFamily="34" charset="-120"/>
              </a:rPr>
              <a:t>The SWOT analysis demonstrates the inherent risk to capital in TruCycle. The SEIS/EIS schemes (pending HMRC approval) are essential to incentivise investors to support this high-risk, early-stage venture.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200" dirty="0">
                <a:solidFill>
                  <a:srgbClr val="4CAF50"/>
                </a:solidFill>
                <a:latin typeface="Arial Black" pitchFamily="34" charset="0"/>
                <a:ea typeface="Arial Black" pitchFamily="34" charset="-122"/>
                <a:cs typeface="Arial Black" pitchFamily="34" charset="-120"/>
              </a:rPr>
              <a:t>USE OF FUNDS: £400,000 SEIS/EIS RAISE (PENDING HMRC APPROVAL)</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136704970"/>
              </p:ext>
            </p:extLst>
          </p:nvPr>
        </p:nvGraphicFramePr>
        <p:xfrm>
          <a:off x="511908" y="1196142"/>
          <a:ext cx="8283524" cy="2862777"/>
        </p:xfrm>
        <a:graphic>
          <a:graphicData uri="http://schemas.openxmlformats.org/drawingml/2006/table">
            <a:tbl>
              <a:tblPr/>
              <a:tblGrid>
                <a:gridCol w="2389478">
                  <a:extLst>
                    <a:ext uri="{9D8B030D-6E8A-4147-A177-3AD203B41FA5}">
                      <a16:colId xmlns:a16="http://schemas.microsoft.com/office/drawing/2014/main" val="20000"/>
                    </a:ext>
                  </a:extLst>
                </a:gridCol>
                <a:gridCol w="1274388">
                  <a:extLst>
                    <a:ext uri="{9D8B030D-6E8A-4147-A177-3AD203B41FA5}">
                      <a16:colId xmlns:a16="http://schemas.microsoft.com/office/drawing/2014/main" val="20001"/>
                    </a:ext>
                  </a:extLst>
                </a:gridCol>
                <a:gridCol w="4619658">
                  <a:extLst>
                    <a:ext uri="{9D8B030D-6E8A-4147-A177-3AD203B41FA5}">
                      <a16:colId xmlns:a16="http://schemas.microsoft.com/office/drawing/2014/main" val="20002"/>
                    </a:ext>
                  </a:extLst>
                </a:gridCol>
              </a:tblGrid>
              <a:tr h="432117">
                <a:tc>
                  <a:txBody>
                    <a:bodyPr/>
                    <a:lstStyle/>
                    <a:p>
                      <a:pPr marL="0" indent="0">
                        <a:buNone/>
                      </a:pPr>
                      <a:r>
                        <a:rPr lang="en-US" sz="1000" b="1" dirty="0">
                          <a:solidFill>
                            <a:srgbClr val="FFFFFF"/>
                          </a:solidFill>
                        </a:rPr>
                        <a:t>Category</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ctr">
                        <a:buNone/>
                      </a:pPr>
                      <a:r>
                        <a:rPr lang="en-US" sz="1000" b="1" dirty="0">
                          <a:solidFill>
                            <a:srgbClr val="FFFFFF"/>
                          </a:solidFill>
                        </a:rPr>
                        <a:t>Amount</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buNone/>
                      </a:pPr>
                      <a:r>
                        <a:rPr lang="en-US" sz="1000" b="1" dirty="0">
                          <a:solidFill>
                            <a:srgbClr val="FFFFFF"/>
                          </a:solidFill>
                        </a:rPr>
                        <a:t>Details</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extLst>
                  <a:ext uri="{0D108BD9-81ED-4DB2-BD59-A6C34878D82A}">
                    <a16:rowId xmlns:a16="http://schemas.microsoft.com/office/drawing/2014/main" val="10000"/>
                  </a:ext>
                </a:extLst>
              </a:tr>
              <a:tr h="405110">
                <a:tc>
                  <a:txBody>
                    <a:bodyPr/>
                    <a:lstStyle/>
                    <a:p>
                      <a:pPr marL="0" indent="0">
                        <a:buNone/>
                      </a:pPr>
                      <a:r>
                        <a:rPr lang="en-US" sz="900" b="1" dirty="0">
                          <a:solidFill>
                            <a:srgbClr val="1E1E1E"/>
                          </a:solidFill>
                        </a:rPr>
                        <a:t>Technology (25%)</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£100,000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850" dirty="0">
                          <a:solidFill>
                            <a:srgbClr val="5C6B63"/>
                          </a:solidFill>
                        </a:rPr>
                        <a:t>Platform maintenance, app improvements, AI categorisation, ad server development</a:t>
                      </a:r>
                      <a:endParaRPr lang="en-US" sz="8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5110">
                <a:tc>
                  <a:txBody>
                    <a:bodyPr/>
                    <a:lstStyle/>
                    <a:p>
                      <a:pPr marL="0" indent="0">
                        <a:buNone/>
                      </a:pPr>
                      <a:r>
                        <a:rPr lang="en-US" sz="900" b="1" dirty="0">
                          <a:solidFill>
                            <a:srgbClr val="1E1E1E"/>
                          </a:solidFill>
                        </a:rPr>
                        <a:t>Operations &amp; Equipment (20%)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£80,000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850" dirty="0">
                          <a:solidFill>
                            <a:srgbClr val="5C6B63"/>
                          </a:solidFill>
                        </a:rPr>
                        <a:t>Van leasing (2 vans), warehouse deposit, collection equipment, sorting infrastructure</a:t>
                      </a:r>
                      <a:endParaRPr lang="en-US" sz="8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5110">
                <a:tc>
                  <a:txBody>
                    <a:bodyPr/>
                    <a:lstStyle/>
                    <a:p>
                      <a:pPr marL="0" indent="0">
                        <a:buNone/>
                      </a:pPr>
                      <a:r>
                        <a:rPr lang="en-US" sz="900" b="1" dirty="0">
                          <a:solidFill>
                            <a:srgbClr val="1E1E1E"/>
                          </a:solidFill>
                        </a:rPr>
                        <a:t>Marketing &amp; Launch (20%)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£80,000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850" dirty="0">
                          <a:solidFill>
                            <a:srgbClr val="5C6B63"/>
                          </a:solidFill>
                        </a:rPr>
                        <a:t>Digital ads, PR, local outreach, referral programme, content creation</a:t>
                      </a:r>
                      <a:endParaRPr lang="en-US" sz="8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5110">
                <a:tc>
                  <a:txBody>
                    <a:bodyPr/>
                    <a:lstStyle/>
                    <a:p>
                      <a:pPr marL="0" indent="0">
                        <a:buNone/>
                      </a:pPr>
                      <a:r>
                        <a:rPr lang="en-US" sz="900" b="1" dirty="0">
                          <a:solidFill>
                            <a:srgbClr val="1E1E1E"/>
                          </a:solidFill>
                        </a:rPr>
                        <a:t>Staff &amp; Salaries (15%)</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£60,000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850" dirty="0">
                          <a:solidFill>
                            <a:srgbClr val="5C6B63"/>
                          </a:solidFill>
                        </a:rPr>
                        <a:t>Initial hires: 2 drivers, 1 operations coordinator (£30K avg salary)</a:t>
                      </a:r>
                      <a:endParaRPr lang="en-US" sz="8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5110">
                <a:tc>
                  <a:txBody>
                    <a:bodyPr/>
                    <a:lstStyle/>
                    <a:p>
                      <a:pPr marL="0" indent="0">
                        <a:buNone/>
                      </a:pPr>
                      <a:r>
                        <a:rPr lang="en-US" sz="900" b="1" dirty="0">
                          <a:solidFill>
                            <a:srgbClr val="1E1E1E"/>
                          </a:solidFill>
                        </a:rPr>
                        <a:t>Working Capital (12.5%)</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£50,000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850" dirty="0">
                          <a:solidFill>
                            <a:srgbClr val="5C6B63"/>
                          </a:solidFill>
                        </a:rPr>
                        <a:t>Cash reserves for operational runway and contingencies</a:t>
                      </a:r>
                      <a:endParaRPr lang="en-US" sz="8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5110">
                <a:tc>
                  <a:txBody>
                    <a:bodyPr/>
                    <a:lstStyle/>
                    <a:p>
                      <a:pPr marL="0" indent="0">
                        <a:buNone/>
                      </a:pPr>
                      <a:r>
                        <a:rPr lang="en-US" sz="900" b="1" dirty="0">
                          <a:solidFill>
                            <a:srgbClr val="1E1E1E"/>
                          </a:solidFill>
                        </a:rPr>
                        <a:t>Compliance &amp; Certification (7.5%)</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E1E1E"/>
                          </a:solidFill>
                        </a:rPr>
                        <a:t>£30,000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buNone/>
                      </a:pPr>
                      <a:r>
                        <a:rPr lang="en-US" sz="850" dirty="0">
                          <a:solidFill>
                            <a:srgbClr val="5C6B63"/>
                          </a:solidFill>
                        </a:rPr>
                        <a:t>AATF fees, environmental certification, legal and regulatory</a:t>
                      </a:r>
                      <a:endParaRPr lang="en-US" sz="85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2"/>
          <p:cNvSpPr/>
          <p:nvPr/>
        </p:nvSpPr>
        <p:spPr>
          <a:xfrm>
            <a:off x="274320" y="4206240"/>
            <a:ext cx="8595360" cy="457200"/>
          </a:xfrm>
          <a:prstGeom prst="rect">
            <a:avLst/>
          </a:prstGeom>
          <a:noFill/>
          <a:ln/>
        </p:spPr>
        <p:txBody>
          <a:bodyPr wrap="square" lIns="0" tIns="0" rIns="0" bIns="0" rtlCol="0" anchor="ctr"/>
          <a:lstStyle/>
          <a:p>
            <a:pPr marL="0" indent="0">
              <a:buNone/>
            </a:pPr>
            <a:r>
              <a:rPr lang="en-US" sz="850" b="1" i="1" dirty="0">
                <a:solidFill>
                  <a:srgbClr val="C62828"/>
                </a:solidFill>
                <a:latin typeface="Calibri" pitchFamily="34" charset="0"/>
                <a:ea typeface="Calibri" pitchFamily="34" charset="-122"/>
                <a:cs typeface="Calibri" pitchFamily="34" charset="-120"/>
              </a:rPr>
              <a:t>Equipment disclaimer: Expenditure on collection vehicles and sorting equipment is essential to the trading activity. These assets will not be resold and will likely depreciate in value. Equipment spend represents less than 15% of total funds.</a:t>
            </a:r>
            <a:endParaRPr lang="en-US" sz="850" dirty="0"/>
          </a:p>
        </p:txBody>
      </p:sp>
      <p:sp>
        <p:nvSpPr>
          <p:cNvPr id="7" name="Text 3"/>
          <p:cNvSpPr/>
          <p:nvPr/>
        </p:nvSpPr>
        <p:spPr>
          <a:xfrm>
            <a:off x="274320" y="4663440"/>
            <a:ext cx="8595360" cy="274320"/>
          </a:xfrm>
          <a:prstGeom prst="rect">
            <a:avLst/>
          </a:prstGeom>
          <a:noFill/>
          <a:ln/>
        </p:spPr>
        <p:txBody>
          <a:bodyPr wrap="square" lIns="0" tIns="0" rIns="0" bIns="0" rtlCol="0" anchor="ctr"/>
          <a:lstStyle/>
          <a:p>
            <a:pPr marL="0" indent="0">
              <a:buNone/>
            </a:pPr>
            <a:r>
              <a:rPr lang="en-US" sz="900" dirty="0">
                <a:solidFill>
                  <a:srgbClr val="5C6B63"/>
                </a:solidFill>
                <a:latin typeface="Calibri" pitchFamily="34" charset="0"/>
                <a:ea typeface="Calibri" pitchFamily="34" charset="-122"/>
                <a:cs typeface="Calibri" pitchFamily="34" charset="-120"/>
              </a:rPr>
              <a:t>Funds are expected to be deployed within the first 24 months of operations.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200" dirty="0">
                <a:solidFill>
                  <a:srgbClr val="4CAF50"/>
                </a:solidFill>
                <a:latin typeface="Arial Black" pitchFamily="34" charset="0"/>
                <a:ea typeface="Arial Black" pitchFamily="34" charset="-122"/>
                <a:cs typeface="Arial Black" pitchFamily="34" charset="-120"/>
              </a:rPr>
              <a:t>FINANCIAL PROJECTIONS: 3-YEAR P&amp;L</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4237060504"/>
              </p:ext>
            </p:extLst>
          </p:nvPr>
        </p:nvGraphicFramePr>
        <p:xfrm>
          <a:off x="274320" y="668997"/>
          <a:ext cx="8412480" cy="4130040"/>
        </p:xfrm>
        <a:graphic>
          <a:graphicData uri="http://schemas.openxmlformats.org/drawingml/2006/table">
            <a:tbl>
              <a:tblPr/>
              <a:tblGrid>
                <a:gridCol w="3474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36226">
                <a:tc>
                  <a:txBody>
                    <a:bodyPr/>
                    <a:lstStyle/>
                    <a:p>
                      <a:pPr marL="0" indent="0">
                        <a:buNone/>
                      </a:pPr>
                      <a:r>
                        <a:rPr lang="en-US" sz="1000" b="1" dirty="0">
                          <a:solidFill>
                            <a:srgbClr val="FFFFFF"/>
                          </a:solidFill>
                        </a:rPr>
                        <a:t>GBP</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r">
                        <a:buNone/>
                      </a:pPr>
                      <a:r>
                        <a:rPr lang="en-US" sz="1000" b="1" dirty="0">
                          <a:solidFill>
                            <a:srgbClr val="FFFFFF"/>
                          </a:solidFill>
                        </a:rPr>
                        <a:t>Year 1 (2026/27)</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r">
                        <a:buNone/>
                      </a:pPr>
                      <a:r>
                        <a:rPr lang="en-US" sz="1000" b="1" dirty="0">
                          <a:solidFill>
                            <a:srgbClr val="FFFFFF"/>
                          </a:solidFill>
                        </a:rPr>
                        <a:t>Year 2 (2027/28)</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tc>
                  <a:txBody>
                    <a:bodyPr/>
                    <a:lstStyle/>
                    <a:p>
                      <a:pPr marL="0" indent="0" algn="r">
                        <a:buNone/>
                      </a:pPr>
                      <a:r>
                        <a:rPr lang="en-US" sz="1000" b="1" dirty="0">
                          <a:solidFill>
                            <a:srgbClr val="FFFFFF"/>
                          </a:solidFill>
                        </a:rPr>
                        <a:t>Year 3 (2028/29)</a:t>
                      </a:r>
                      <a:endParaRPr lang="en-US" sz="10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D7A4F"/>
                    </a:solidFill>
                  </a:tcPr>
                </a:tc>
                <a:extLst>
                  <a:ext uri="{0D108BD9-81ED-4DB2-BD59-A6C34878D82A}">
                    <a16:rowId xmlns:a16="http://schemas.microsoft.com/office/drawing/2014/main" val="10000"/>
                  </a:ext>
                </a:extLst>
              </a:tr>
              <a:tr h="221462">
                <a:tc>
                  <a:txBody>
                    <a:bodyPr/>
                    <a:lstStyle/>
                    <a:p>
                      <a:pPr marL="0" indent="0">
                        <a:buNone/>
                      </a:pPr>
                      <a:r>
                        <a:rPr lang="en-US" sz="900" b="1" dirty="0">
                          <a:solidFill>
                            <a:srgbClr val="2D7A4F"/>
                          </a:solidFill>
                        </a:rPr>
                        <a:t>Revenue Streams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1462">
                <a:tc>
                  <a:txBody>
                    <a:bodyPr/>
                    <a:lstStyle/>
                    <a:p>
                      <a:pPr marL="0" indent="0">
                        <a:buNone/>
                      </a:pPr>
                      <a:r>
                        <a:rPr lang="en-US" sz="900" dirty="0">
                          <a:solidFill>
                            <a:srgbClr val="1E1E1E"/>
                          </a:solidFill>
                        </a:rPr>
                        <a:t>  Premium Subscriptions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42,000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168,000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336,000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1462">
                <a:tc>
                  <a:txBody>
                    <a:bodyPr/>
                    <a:lstStyle/>
                    <a:p>
                      <a:pPr marL="0" indent="0">
                        <a:buNone/>
                      </a:pPr>
                      <a:r>
                        <a:rPr lang="en-US" sz="900" dirty="0">
                          <a:solidFill>
                            <a:srgbClr val="1E1E1E"/>
                          </a:solidFill>
                        </a:rPr>
                        <a:t>  Overage Fees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12,000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48,000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96,000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1462">
                <a:tc>
                  <a:txBody>
                    <a:bodyPr/>
                    <a:lstStyle/>
                    <a:p>
                      <a:pPr marL="0" indent="0">
                        <a:buNone/>
                      </a:pPr>
                      <a:r>
                        <a:rPr lang="en-US" sz="900" dirty="0">
                          <a:solidFill>
                            <a:srgbClr val="1E1E1E"/>
                          </a:solidFill>
                        </a:rPr>
                        <a:t>  Marketplace Commissions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18,000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72,000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156,000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1462">
                <a:tc>
                  <a:txBody>
                    <a:bodyPr/>
                    <a:lstStyle/>
                    <a:p>
                      <a:pPr marL="0" indent="0">
                        <a:buNone/>
                      </a:pPr>
                      <a:r>
                        <a:rPr lang="en-US" sz="900" dirty="0">
                          <a:solidFill>
                            <a:srgbClr val="1E1E1E"/>
                          </a:solidFill>
                        </a:rPr>
                        <a:t>  PCS/AATF Evidence + Recycler Fees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28,000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65,000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1462">
                <a:tc>
                  <a:txBody>
                    <a:bodyPr/>
                    <a:lstStyle/>
                    <a:p>
                      <a:pPr marL="0" indent="0">
                        <a:buNone/>
                      </a:pPr>
                      <a:r>
                        <a:rPr lang="en-US" sz="900" dirty="0">
                          <a:solidFill>
                            <a:srgbClr val="1E1E1E"/>
                          </a:solidFill>
                        </a:rPr>
                        <a:t>  B2B Services + OEM</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30,000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85,000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175,000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21462">
                <a:tc>
                  <a:txBody>
                    <a:bodyPr/>
                    <a:lstStyle/>
                    <a:p>
                      <a:pPr marL="0" indent="0">
                        <a:buNone/>
                      </a:pPr>
                      <a:r>
                        <a:rPr lang="en-US" sz="900" dirty="0">
                          <a:solidFill>
                            <a:srgbClr val="1E1E1E"/>
                          </a:solidFill>
                        </a:rPr>
                        <a:t>  Studio Upcycle + Ads + Content</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60,000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122,000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21462">
                <a:tc>
                  <a:txBody>
                    <a:bodyPr/>
                    <a:lstStyle/>
                    <a:p>
                      <a:pPr marL="0" indent="0">
                        <a:buNone/>
                      </a:pPr>
                      <a:r>
                        <a:rPr lang="en-US" sz="900" b="1" dirty="0">
                          <a:solidFill>
                            <a:srgbClr val="1E1E1E"/>
                          </a:solidFill>
                        </a:rPr>
                        <a:t>Total Revenue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r">
                        <a:buNone/>
                      </a:pPr>
                      <a:r>
                        <a:rPr lang="en-US" sz="900" b="1" dirty="0">
                          <a:solidFill>
                            <a:srgbClr val="1E1E1E"/>
                          </a:solidFill>
                        </a:rPr>
                        <a:t>122,000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r">
                        <a:buNone/>
                      </a:pPr>
                      <a:r>
                        <a:rPr lang="en-US" sz="900" b="1" dirty="0">
                          <a:solidFill>
                            <a:srgbClr val="1E1E1E"/>
                          </a:solidFill>
                        </a:rPr>
                        <a:t>461,000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r">
                        <a:buNone/>
                      </a:pPr>
                      <a:r>
                        <a:rPr lang="en-US" sz="900" b="1" dirty="0">
                          <a:solidFill>
                            <a:srgbClr val="1E1E1E"/>
                          </a:solidFill>
                        </a:rPr>
                        <a:t>950,000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08"/>
                  </a:ext>
                </a:extLst>
              </a:tr>
              <a:tr h="221462">
                <a:tc>
                  <a:txBody>
                    <a:bodyPr/>
                    <a:lstStyle/>
                    <a:p>
                      <a:pPr marL="0" indent="0">
                        <a:buNone/>
                      </a:pPr>
                      <a:r>
                        <a:rPr lang="en-US" sz="900" b="1" dirty="0">
                          <a:solidFill>
                            <a:srgbClr val="2D7A4F"/>
                          </a:solidFill>
                        </a:rPr>
                        <a:t>Operating Expenses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21462">
                <a:tc>
                  <a:txBody>
                    <a:bodyPr/>
                    <a:lstStyle/>
                    <a:p>
                      <a:pPr marL="0" indent="0">
                        <a:buNone/>
                      </a:pPr>
                      <a:r>
                        <a:rPr lang="en-US" sz="900" dirty="0">
                          <a:solidFill>
                            <a:srgbClr val="1E1E1E"/>
                          </a:solidFill>
                        </a:rPr>
                        <a:t>  Technology (platform, apps)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(55,000)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(70,000)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(85,000)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21462">
                <a:tc>
                  <a:txBody>
                    <a:bodyPr/>
                    <a:lstStyle/>
                    <a:p>
                      <a:pPr marL="0" indent="0">
                        <a:buNone/>
                      </a:pPr>
                      <a:r>
                        <a:rPr lang="en-US" sz="900" dirty="0">
                          <a:solidFill>
                            <a:srgbClr val="1E1E1E"/>
                          </a:solidFill>
                        </a:rPr>
                        <a:t>  Marketing &amp; Customer Acquisition</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(80,000)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(95,000)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(110,000)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21462">
                <a:tc>
                  <a:txBody>
                    <a:bodyPr/>
                    <a:lstStyle/>
                    <a:p>
                      <a:pPr marL="0" indent="0">
                        <a:buNone/>
                      </a:pPr>
                      <a:r>
                        <a:rPr lang="en-US" sz="900" dirty="0">
                          <a:solidFill>
                            <a:srgbClr val="1E1E1E"/>
                          </a:solidFill>
                        </a:rPr>
                        <a:t>  Staff Salaries (excl. founders)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(90,000)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(180,000)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(280,000)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21462">
                <a:tc>
                  <a:txBody>
                    <a:bodyPr/>
                    <a:lstStyle/>
                    <a:p>
                      <a:pPr marL="0" indent="0">
                        <a:buNone/>
                      </a:pPr>
                      <a:r>
                        <a:rPr lang="en-US" sz="900" dirty="0">
                          <a:solidFill>
                            <a:srgbClr val="1E1E1E"/>
                          </a:solidFill>
                        </a:rPr>
                        <a:t>  Logistics (vans, fuel, drivers)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(75,000)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(130,000)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(200,000)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21462">
                <a:tc>
                  <a:txBody>
                    <a:bodyPr/>
                    <a:lstStyle/>
                    <a:p>
                      <a:pPr marL="0" indent="0">
                        <a:buNone/>
                      </a:pPr>
                      <a:r>
                        <a:rPr lang="en-US" sz="900" dirty="0">
                          <a:solidFill>
                            <a:srgbClr val="1E1E1E"/>
                          </a:solidFill>
                        </a:rPr>
                        <a:t>  Facilities (warehouse, drop-offs)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(40,000)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(65,000)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(90,000)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21462">
                <a:tc>
                  <a:txBody>
                    <a:bodyPr/>
                    <a:lstStyle/>
                    <a:p>
                      <a:pPr marL="0" indent="0">
                        <a:buNone/>
                      </a:pPr>
                      <a:r>
                        <a:rPr lang="en-US" sz="900" dirty="0">
                          <a:solidFill>
                            <a:srgbClr val="1E1E1E"/>
                          </a:solidFill>
                        </a:rPr>
                        <a:t>  Operations &amp; Compliance</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(30,000)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(45,000)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dirty="0">
                          <a:solidFill>
                            <a:srgbClr val="1E1E1E"/>
                          </a:solidFill>
                        </a:rPr>
                        <a:t>(55,000)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21462">
                <a:tc>
                  <a:txBody>
                    <a:bodyPr/>
                    <a:lstStyle/>
                    <a:p>
                      <a:pPr marL="0" indent="0">
                        <a:buNone/>
                      </a:pPr>
                      <a:r>
                        <a:rPr lang="en-US" sz="900" b="1" dirty="0">
                          <a:solidFill>
                            <a:srgbClr val="1E1E1E"/>
                          </a:solidFill>
                        </a:rPr>
                        <a:t>Total Costs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r">
                        <a:buNone/>
                      </a:pPr>
                      <a:r>
                        <a:rPr lang="en-US" sz="900" b="1" dirty="0">
                          <a:solidFill>
                            <a:srgbClr val="1E1E1E"/>
                          </a:solidFill>
                        </a:rPr>
                        <a:t>(370,000)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r">
                        <a:buNone/>
                      </a:pPr>
                      <a:r>
                        <a:rPr lang="en-US" sz="900" b="1" dirty="0">
                          <a:solidFill>
                            <a:srgbClr val="1E1E1E"/>
                          </a:solidFill>
                        </a:rPr>
                        <a:t>(585,000)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tc>
                  <a:txBody>
                    <a:bodyPr/>
                    <a:lstStyle/>
                    <a:p>
                      <a:pPr marL="0" indent="0" algn="r">
                        <a:buNone/>
                      </a:pPr>
                      <a:r>
                        <a:rPr lang="en-US" sz="900" b="1" dirty="0">
                          <a:solidFill>
                            <a:srgbClr val="1E1E1E"/>
                          </a:solidFill>
                        </a:rPr>
                        <a:t>(820,000)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5E9"/>
                    </a:solidFill>
                  </a:tcPr>
                </a:tc>
                <a:extLst>
                  <a:ext uri="{0D108BD9-81ED-4DB2-BD59-A6C34878D82A}">
                    <a16:rowId xmlns:a16="http://schemas.microsoft.com/office/drawing/2014/main" val="10016"/>
                  </a:ext>
                </a:extLst>
              </a:tr>
              <a:tr h="221462">
                <a:tc>
                  <a:txBody>
                    <a:bodyPr/>
                    <a:lstStyle/>
                    <a:p>
                      <a:pPr marL="0" indent="0">
                        <a:buNone/>
                      </a:pPr>
                      <a:r>
                        <a:rPr lang="en-US" sz="900" b="1" dirty="0">
                          <a:solidFill>
                            <a:srgbClr val="1E1E1E"/>
                          </a:solidFill>
                        </a:rPr>
                        <a:t>Net Profit / (Loss)</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b="1" dirty="0">
                          <a:solidFill>
                            <a:srgbClr val="C62828"/>
                          </a:solidFill>
                        </a:rPr>
                        <a:t>(248,000)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b="1" dirty="0">
                          <a:solidFill>
                            <a:srgbClr val="C62828"/>
                          </a:solidFill>
                        </a:rPr>
                        <a:t>(124,000)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marL="0" indent="0" algn="r">
                        <a:buNone/>
                      </a:pPr>
                      <a:r>
                        <a:rPr lang="en-US" sz="900" b="1" dirty="0">
                          <a:solidFill>
                            <a:srgbClr val="2D7A4F"/>
                          </a:solidFill>
                        </a:rPr>
                        <a:t>130,000</a:t>
                      </a:r>
                      <a:endParaRPr lang="en-US" sz="900" dirty="0"/>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bl>
          </a:graphicData>
        </a:graphic>
      </p:graphicFrame>
      <p:sp>
        <p:nvSpPr>
          <p:cNvPr id="5" name="Text 2"/>
          <p:cNvSpPr/>
          <p:nvPr/>
        </p:nvSpPr>
        <p:spPr>
          <a:xfrm>
            <a:off x="274320" y="4800600"/>
            <a:ext cx="8595360" cy="320040"/>
          </a:xfrm>
          <a:prstGeom prst="rect">
            <a:avLst/>
          </a:prstGeom>
          <a:noFill/>
          <a:ln/>
        </p:spPr>
        <p:txBody>
          <a:bodyPr wrap="square" lIns="0" tIns="0" rIns="0" bIns="0" rtlCol="0" anchor="ctr"/>
          <a:lstStyle/>
          <a:p>
            <a:pPr marL="0" indent="0">
              <a:buNone/>
            </a:pPr>
            <a:r>
              <a:rPr lang="en-US" sz="700" b="1" dirty="0">
                <a:solidFill>
                  <a:srgbClr val="2D7A4F"/>
                </a:solidFill>
                <a:latin typeface="Calibri" pitchFamily="34" charset="0"/>
                <a:ea typeface="Calibri" pitchFamily="34" charset="-122"/>
                <a:cs typeface="Calibri" pitchFamily="34" charset="-120"/>
              </a:rPr>
              <a:t>The combined net loss of approximately £372,000 across Years 1 and 2 demonstrates the funding gap that the £400,000 SEIS/EIS raise (pending HMRC approval) is intended to fill. Revenue projections are deliberately conservative. Annual profit does not exceed £1M in the projection period.</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TEAM &amp; KEY HIRES</a:t>
            </a:r>
            <a:endParaRPr lang="en-US" sz="2400" dirty="0"/>
          </a:p>
        </p:txBody>
      </p:sp>
      <p:sp>
        <p:nvSpPr>
          <p:cNvPr id="4" name="Text 2"/>
          <p:cNvSpPr/>
          <p:nvPr/>
        </p:nvSpPr>
        <p:spPr>
          <a:xfrm>
            <a:off x="457200" y="1051560"/>
            <a:ext cx="8229600" cy="320040"/>
          </a:xfrm>
          <a:prstGeom prst="rect">
            <a:avLst/>
          </a:prstGeom>
          <a:noFill/>
          <a:ln/>
        </p:spPr>
        <p:txBody>
          <a:bodyPr wrap="square" lIns="0" tIns="0" rIns="0" bIns="0" rtlCol="0" anchor="ctr"/>
          <a:lstStyle/>
          <a:p>
            <a:pPr marL="0" indent="0">
              <a:buNone/>
            </a:pPr>
            <a:r>
              <a:rPr lang="en-US" sz="1600" b="1" dirty="0">
                <a:solidFill>
                  <a:srgbClr val="2D7A4F"/>
                </a:solidFill>
                <a:latin typeface="Calibri" pitchFamily="34" charset="0"/>
                <a:ea typeface="Calibri" pitchFamily="34" charset="-122"/>
                <a:cs typeface="Calibri" pitchFamily="34" charset="-120"/>
              </a:rPr>
              <a:t>Founding Team</a:t>
            </a:r>
            <a:endParaRPr lang="en-US" sz="1600" dirty="0"/>
          </a:p>
        </p:txBody>
      </p:sp>
      <p:sp>
        <p:nvSpPr>
          <p:cNvPr id="5" name="Shape 3"/>
          <p:cNvSpPr/>
          <p:nvPr/>
        </p:nvSpPr>
        <p:spPr>
          <a:xfrm>
            <a:off x="548640" y="1508760"/>
            <a:ext cx="320040" cy="320040"/>
          </a:xfrm>
          <a:prstGeom prst="ellipse">
            <a:avLst/>
          </a:prstGeom>
          <a:solidFill>
            <a:srgbClr val="2D7A4F"/>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594360" y="1554480"/>
            <a:ext cx="228600" cy="228600"/>
          </a:xfrm>
          <a:prstGeom prst="rect">
            <a:avLst/>
          </a:prstGeom>
        </p:spPr>
      </p:pic>
      <p:sp>
        <p:nvSpPr>
          <p:cNvPr id="7" name="Text 4"/>
          <p:cNvSpPr/>
          <p:nvPr/>
        </p:nvSpPr>
        <p:spPr>
          <a:xfrm>
            <a:off x="1051560" y="1463040"/>
            <a:ext cx="3200400" cy="365760"/>
          </a:xfrm>
          <a:prstGeom prst="rect">
            <a:avLst/>
          </a:prstGeom>
          <a:noFill/>
          <a:ln/>
        </p:spPr>
        <p:txBody>
          <a:bodyPr wrap="square" lIns="0" tIns="0" rIns="0" bIns="0" rtlCol="0" anchor="ctr"/>
          <a:lstStyle/>
          <a:p>
            <a:pPr marL="0" indent="0">
              <a:buNone/>
            </a:pPr>
            <a:r>
              <a:rPr lang="en-US" sz="1100" b="1" dirty="0">
                <a:solidFill>
                  <a:srgbClr val="2D7A4F"/>
                </a:solidFill>
                <a:latin typeface="Calibri" pitchFamily="34" charset="0"/>
                <a:ea typeface="Calibri" pitchFamily="34" charset="-122"/>
                <a:cs typeface="Calibri" pitchFamily="34" charset="-120"/>
              </a:rPr>
              <a:t>CEO</a:t>
            </a:r>
            <a:endParaRPr lang="en-US" sz="1100" dirty="0"/>
          </a:p>
        </p:txBody>
      </p:sp>
      <p:sp>
        <p:nvSpPr>
          <p:cNvPr id="8" name="Text 5"/>
          <p:cNvSpPr/>
          <p:nvPr/>
        </p:nvSpPr>
        <p:spPr>
          <a:xfrm>
            <a:off x="4297680" y="1463040"/>
            <a:ext cx="4389120" cy="36576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Business strategy, operations, and fundraising. Driving TruCycle from concept to market.</a:t>
            </a:r>
            <a:endParaRPr lang="en-US" sz="1000" dirty="0"/>
          </a:p>
        </p:txBody>
      </p:sp>
      <p:sp>
        <p:nvSpPr>
          <p:cNvPr id="9" name="Shape 6"/>
          <p:cNvSpPr/>
          <p:nvPr/>
        </p:nvSpPr>
        <p:spPr>
          <a:xfrm>
            <a:off x="548640" y="2011680"/>
            <a:ext cx="320040" cy="320040"/>
          </a:xfrm>
          <a:prstGeom prst="ellipse">
            <a:avLst/>
          </a:prstGeom>
          <a:solidFill>
            <a:srgbClr val="2D7A4F"/>
          </a:solidFill>
          <a:ln/>
        </p:spPr>
        <p:txBody>
          <a:bodyPr/>
          <a:lstStyle/>
          <a:p>
            <a:endParaRPr lang="en-GB"/>
          </a:p>
        </p:txBody>
      </p:sp>
      <p:pic>
        <p:nvPicPr>
          <p:cNvPr id="10" name="Image 1" descr="preencoded.png"/>
          <p:cNvPicPr>
            <a:picLocks noChangeAspect="1"/>
          </p:cNvPicPr>
          <p:nvPr/>
        </p:nvPicPr>
        <p:blipFill>
          <a:blip r:embed="rId3"/>
          <a:stretch>
            <a:fillRect/>
          </a:stretch>
        </p:blipFill>
        <p:spPr>
          <a:xfrm>
            <a:off x="594360" y="2057400"/>
            <a:ext cx="228600" cy="228600"/>
          </a:xfrm>
          <a:prstGeom prst="rect">
            <a:avLst/>
          </a:prstGeom>
        </p:spPr>
      </p:pic>
      <p:sp>
        <p:nvSpPr>
          <p:cNvPr id="11" name="Text 7"/>
          <p:cNvSpPr/>
          <p:nvPr/>
        </p:nvSpPr>
        <p:spPr>
          <a:xfrm>
            <a:off x="1051560" y="1965960"/>
            <a:ext cx="3200400" cy="365760"/>
          </a:xfrm>
          <a:prstGeom prst="rect">
            <a:avLst/>
          </a:prstGeom>
          <a:noFill/>
          <a:ln/>
        </p:spPr>
        <p:txBody>
          <a:bodyPr wrap="square" lIns="0" tIns="0" rIns="0" bIns="0" rtlCol="0" anchor="ctr"/>
          <a:lstStyle/>
          <a:p>
            <a:pPr marL="0" indent="0">
              <a:buNone/>
            </a:pPr>
            <a:r>
              <a:rPr lang="en-US" sz="1100" b="1" dirty="0">
                <a:solidFill>
                  <a:srgbClr val="2D7A4F"/>
                </a:solidFill>
                <a:latin typeface="Calibri" pitchFamily="34" charset="0"/>
                <a:ea typeface="Calibri" pitchFamily="34" charset="-122"/>
                <a:cs typeface="Calibri" pitchFamily="34" charset="-120"/>
              </a:rPr>
              <a:t>CTO</a:t>
            </a:r>
            <a:endParaRPr lang="en-US" sz="1100" dirty="0"/>
          </a:p>
        </p:txBody>
      </p:sp>
      <p:sp>
        <p:nvSpPr>
          <p:cNvPr id="12" name="Text 8"/>
          <p:cNvSpPr/>
          <p:nvPr/>
        </p:nvSpPr>
        <p:spPr>
          <a:xfrm>
            <a:off x="4297680" y="1965960"/>
            <a:ext cx="4389120" cy="36576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Platform architecture, AI/ML, technology stack and ad tech capabilities.</a:t>
            </a:r>
            <a:endParaRPr lang="en-US" sz="1000" dirty="0"/>
          </a:p>
        </p:txBody>
      </p:sp>
      <p:sp>
        <p:nvSpPr>
          <p:cNvPr id="13" name="Shape 9"/>
          <p:cNvSpPr/>
          <p:nvPr/>
        </p:nvSpPr>
        <p:spPr>
          <a:xfrm>
            <a:off x="548640" y="2514600"/>
            <a:ext cx="320040" cy="320040"/>
          </a:xfrm>
          <a:prstGeom prst="ellipse">
            <a:avLst/>
          </a:prstGeom>
          <a:solidFill>
            <a:srgbClr val="2D7A4F"/>
          </a:solidFill>
          <a:ln/>
        </p:spPr>
        <p:txBody>
          <a:bodyPr/>
          <a:lstStyle/>
          <a:p>
            <a:endParaRPr lang="en-GB"/>
          </a:p>
        </p:txBody>
      </p:sp>
      <p:pic>
        <p:nvPicPr>
          <p:cNvPr id="14" name="Image 2" descr="preencoded.png"/>
          <p:cNvPicPr>
            <a:picLocks noChangeAspect="1"/>
          </p:cNvPicPr>
          <p:nvPr/>
        </p:nvPicPr>
        <p:blipFill>
          <a:blip r:embed="rId3"/>
          <a:stretch>
            <a:fillRect/>
          </a:stretch>
        </p:blipFill>
        <p:spPr>
          <a:xfrm>
            <a:off x="594360" y="2560320"/>
            <a:ext cx="228600" cy="228600"/>
          </a:xfrm>
          <a:prstGeom prst="rect">
            <a:avLst/>
          </a:prstGeom>
        </p:spPr>
      </p:pic>
      <p:sp>
        <p:nvSpPr>
          <p:cNvPr id="15" name="Text 10"/>
          <p:cNvSpPr/>
          <p:nvPr/>
        </p:nvSpPr>
        <p:spPr>
          <a:xfrm>
            <a:off x="1051560" y="2468880"/>
            <a:ext cx="3200400" cy="365760"/>
          </a:xfrm>
          <a:prstGeom prst="rect">
            <a:avLst/>
          </a:prstGeom>
          <a:noFill/>
          <a:ln/>
        </p:spPr>
        <p:txBody>
          <a:bodyPr wrap="square" lIns="0" tIns="0" rIns="0" bIns="0" rtlCol="0" anchor="ctr"/>
          <a:lstStyle/>
          <a:p>
            <a:pPr marL="0" indent="0">
              <a:buNone/>
            </a:pPr>
            <a:r>
              <a:rPr lang="en-US" sz="1100" b="1" dirty="0">
                <a:solidFill>
                  <a:srgbClr val="2D7A4F"/>
                </a:solidFill>
                <a:latin typeface="Calibri" pitchFamily="34" charset="0"/>
                <a:ea typeface="Calibri" pitchFamily="34" charset="-122"/>
                <a:cs typeface="Calibri" pitchFamily="34" charset="-120"/>
              </a:rPr>
              <a:t>Creative Director</a:t>
            </a:r>
            <a:endParaRPr lang="en-US" sz="1100" dirty="0"/>
          </a:p>
        </p:txBody>
      </p:sp>
      <p:sp>
        <p:nvSpPr>
          <p:cNvPr id="16" name="Text 11"/>
          <p:cNvSpPr/>
          <p:nvPr/>
        </p:nvSpPr>
        <p:spPr>
          <a:xfrm>
            <a:off x="4297680" y="2468880"/>
            <a:ext cx="4389120" cy="36576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Artist curation, brand identity, studio operations and upcycling programmes.</a:t>
            </a:r>
            <a:endParaRPr lang="en-US" sz="1000" dirty="0"/>
          </a:p>
        </p:txBody>
      </p:sp>
      <p:sp>
        <p:nvSpPr>
          <p:cNvPr id="17" name="Shape 12"/>
          <p:cNvSpPr/>
          <p:nvPr/>
        </p:nvSpPr>
        <p:spPr>
          <a:xfrm>
            <a:off x="548640" y="3017520"/>
            <a:ext cx="320040" cy="320040"/>
          </a:xfrm>
          <a:prstGeom prst="ellipse">
            <a:avLst/>
          </a:prstGeom>
          <a:solidFill>
            <a:srgbClr val="2D7A4F"/>
          </a:solidFill>
          <a:ln/>
        </p:spPr>
        <p:txBody>
          <a:bodyPr/>
          <a:lstStyle/>
          <a:p>
            <a:endParaRPr lang="en-GB"/>
          </a:p>
        </p:txBody>
      </p:sp>
      <p:pic>
        <p:nvPicPr>
          <p:cNvPr id="18" name="Image 3" descr="preencoded.png"/>
          <p:cNvPicPr>
            <a:picLocks noChangeAspect="1"/>
          </p:cNvPicPr>
          <p:nvPr/>
        </p:nvPicPr>
        <p:blipFill>
          <a:blip r:embed="rId3"/>
          <a:stretch>
            <a:fillRect/>
          </a:stretch>
        </p:blipFill>
        <p:spPr>
          <a:xfrm>
            <a:off x="594360" y="3063240"/>
            <a:ext cx="228600" cy="228600"/>
          </a:xfrm>
          <a:prstGeom prst="rect">
            <a:avLst/>
          </a:prstGeom>
        </p:spPr>
      </p:pic>
      <p:sp>
        <p:nvSpPr>
          <p:cNvPr id="19" name="Text 13"/>
          <p:cNvSpPr/>
          <p:nvPr/>
        </p:nvSpPr>
        <p:spPr>
          <a:xfrm>
            <a:off x="1051560" y="2971800"/>
            <a:ext cx="3200400" cy="365760"/>
          </a:xfrm>
          <a:prstGeom prst="rect">
            <a:avLst/>
          </a:prstGeom>
          <a:noFill/>
          <a:ln/>
        </p:spPr>
        <p:txBody>
          <a:bodyPr wrap="square" lIns="0" tIns="0" rIns="0" bIns="0" rtlCol="0" anchor="ctr"/>
          <a:lstStyle/>
          <a:p>
            <a:pPr marL="0" indent="0">
              <a:buNone/>
            </a:pPr>
            <a:r>
              <a:rPr lang="en-US" sz="1100" b="1" dirty="0">
                <a:solidFill>
                  <a:srgbClr val="2D7A4F"/>
                </a:solidFill>
                <a:latin typeface="Calibri" pitchFamily="34" charset="0"/>
                <a:ea typeface="Calibri" pitchFamily="34" charset="-122"/>
                <a:cs typeface="Calibri" pitchFamily="34" charset="-120"/>
              </a:rPr>
              <a:t>Sustainability Director</a:t>
            </a:r>
            <a:endParaRPr lang="en-US" sz="1100" dirty="0"/>
          </a:p>
        </p:txBody>
      </p:sp>
      <p:sp>
        <p:nvSpPr>
          <p:cNvPr id="20" name="Text 14"/>
          <p:cNvSpPr/>
          <p:nvPr/>
        </p:nvSpPr>
        <p:spPr>
          <a:xfrm>
            <a:off x="4297680" y="2971800"/>
            <a:ext cx="4389120" cy="36576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Environmental certification, ESG reporting, regulatory compliance.</a:t>
            </a:r>
            <a:endParaRPr lang="en-US" sz="1000" dirty="0"/>
          </a:p>
        </p:txBody>
      </p:sp>
      <p:sp>
        <p:nvSpPr>
          <p:cNvPr id="21" name="Shape 15"/>
          <p:cNvSpPr/>
          <p:nvPr/>
        </p:nvSpPr>
        <p:spPr>
          <a:xfrm>
            <a:off x="548640" y="3520440"/>
            <a:ext cx="320040" cy="320040"/>
          </a:xfrm>
          <a:prstGeom prst="ellipse">
            <a:avLst/>
          </a:prstGeom>
          <a:solidFill>
            <a:srgbClr val="2D7A4F"/>
          </a:solidFill>
          <a:ln/>
        </p:spPr>
        <p:txBody>
          <a:bodyPr/>
          <a:lstStyle/>
          <a:p>
            <a:endParaRPr lang="en-GB"/>
          </a:p>
        </p:txBody>
      </p:sp>
      <p:pic>
        <p:nvPicPr>
          <p:cNvPr id="22" name="Image 4" descr="preencoded.png"/>
          <p:cNvPicPr>
            <a:picLocks noChangeAspect="1"/>
          </p:cNvPicPr>
          <p:nvPr/>
        </p:nvPicPr>
        <p:blipFill>
          <a:blip r:embed="rId3"/>
          <a:stretch>
            <a:fillRect/>
          </a:stretch>
        </p:blipFill>
        <p:spPr>
          <a:xfrm>
            <a:off x="594360" y="3566160"/>
            <a:ext cx="228600" cy="228600"/>
          </a:xfrm>
          <a:prstGeom prst="rect">
            <a:avLst/>
          </a:prstGeom>
        </p:spPr>
      </p:pic>
      <p:sp>
        <p:nvSpPr>
          <p:cNvPr id="23" name="Text 16"/>
          <p:cNvSpPr/>
          <p:nvPr/>
        </p:nvSpPr>
        <p:spPr>
          <a:xfrm>
            <a:off x="1051560" y="3474720"/>
            <a:ext cx="3200400" cy="365760"/>
          </a:xfrm>
          <a:prstGeom prst="rect">
            <a:avLst/>
          </a:prstGeom>
          <a:noFill/>
          <a:ln/>
        </p:spPr>
        <p:txBody>
          <a:bodyPr wrap="square" lIns="0" tIns="0" rIns="0" bIns="0" rtlCol="0" anchor="ctr"/>
          <a:lstStyle/>
          <a:p>
            <a:pPr marL="0" indent="0">
              <a:buNone/>
            </a:pPr>
            <a:r>
              <a:rPr lang="en-US" sz="1100" b="1" dirty="0">
                <a:solidFill>
                  <a:srgbClr val="2D7A4F"/>
                </a:solidFill>
                <a:latin typeface="Calibri" pitchFamily="34" charset="0"/>
                <a:ea typeface="Calibri" pitchFamily="34" charset="-122"/>
                <a:cs typeface="Calibri" pitchFamily="34" charset="-120"/>
              </a:rPr>
              <a:t>Information Director</a:t>
            </a:r>
            <a:endParaRPr lang="en-US" sz="1100" dirty="0"/>
          </a:p>
        </p:txBody>
      </p:sp>
      <p:sp>
        <p:nvSpPr>
          <p:cNvPr id="24" name="Text 17"/>
          <p:cNvSpPr/>
          <p:nvPr/>
        </p:nvSpPr>
        <p:spPr>
          <a:xfrm>
            <a:off x="4297680" y="3474720"/>
            <a:ext cx="4389120" cy="36576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Data strategy, blockchain integration, impact measurement and reporting.</a:t>
            </a:r>
            <a:endParaRPr lang="en-US" sz="1000" dirty="0"/>
          </a:p>
        </p:txBody>
      </p:sp>
      <p:sp>
        <p:nvSpPr>
          <p:cNvPr id="25" name="Shape 18"/>
          <p:cNvSpPr/>
          <p:nvPr/>
        </p:nvSpPr>
        <p:spPr>
          <a:xfrm>
            <a:off x="457200" y="4023360"/>
            <a:ext cx="8229600" cy="640080"/>
          </a:xfrm>
          <a:prstGeom prst="rect">
            <a:avLst/>
          </a:prstGeom>
          <a:solidFill>
            <a:srgbClr val="E8F5E9"/>
          </a:solidFill>
          <a:ln/>
        </p:spPr>
        <p:txBody>
          <a:bodyPr/>
          <a:lstStyle/>
          <a:p>
            <a:endParaRPr lang="en-GB"/>
          </a:p>
        </p:txBody>
      </p:sp>
      <p:sp>
        <p:nvSpPr>
          <p:cNvPr id="26" name="Text 19"/>
          <p:cNvSpPr/>
          <p:nvPr/>
        </p:nvSpPr>
        <p:spPr>
          <a:xfrm>
            <a:off x="640080" y="4069080"/>
            <a:ext cx="7863840" cy="548640"/>
          </a:xfrm>
          <a:prstGeom prst="rect">
            <a:avLst/>
          </a:prstGeom>
          <a:noFill/>
          <a:ln/>
        </p:spPr>
        <p:txBody>
          <a:bodyPr wrap="square" lIns="0" tIns="0" rIns="0" bIns="0" rtlCol="0" anchor="ctr"/>
          <a:lstStyle/>
          <a:p>
            <a:pPr marL="0" indent="0">
              <a:buNone/>
            </a:pPr>
            <a:r>
              <a:rPr lang="en-US" sz="1000" dirty="0">
                <a:solidFill>
                  <a:srgbClr val="1E1E1E"/>
                </a:solidFill>
                <a:latin typeface="Calibri" pitchFamily="34" charset="0"/>
                <a:ea typeface="Calibri" pitchFamily="34" charset="-122"/>
                <a:cs typeface="Calibri" pitchFamily="34" charset="-120"/>
              </a:rPr>
              <a:t>Year 1: 27 total headcount  |  Year 2: 75  |  Year 3: 143  |  Key hires: Head of Operations, Head of Advertising Sales, Head of Sustainability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AFDF7"/>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D"/>
          </a:solidFill>
          <a:ln/>
        </p:spPr>
        <p:txBody>
          <a:bodyPr/>
          <a:lstStyle/>
          <a:p>
            <a:endParaRPr lang="en-GB"/>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400" dirty="0">
                <a:solidFill>
                  <a:srgbClr val="4CAF50"/>
                </a:solidFill>
                <a:latin typeface="Arial Black" pitchFamily="34" charset="0"/>
                <a:ea typeface="Arial Black" pitchFamily="34" charset="-122"/>
                <a:cs typeface="Arial Black" pitchFamily="34" charset="-120"/>
              </a:rPr>
              <a:t>IMPLEMENTATION TIMELINE</a:t>
            </a:r>
            <a:endParaRPr lang="en-US" sz="2400" dirty="0"/>
          </a:p>
        </p:txBody>
      </p:sp>
      <p:sp>
        <p:nvSpPr>
          <p:cNvPr id="4" name="Shape 2"/>
          <p:cNvSpPr/>
          <p:nvPr/>
        </p:nvSpPr>
        <p:spPr>
          <a:xfrm>
            <a:off x="457200" y="1051560"/>
            <a:ext cx="228600" cy="228600"/>
          </a:xfrm>
          <a:prstGeom prst="ellipse">
            <a:avLst/>
          </a:prstGeom>
          <a:solidFill>
            <a:srgbClr val="2D7A4F"/>
          </a:solidFill>
          <a:ln/>
        </p:spPr>
        <p:txBody>
          <a:bodyPr/>
          <a:lstStyle/>
          <a:p>
            <a:endParaRPr lang="en-GB"/>
          </a:p>
        </p:txBody>
      </p:sp>
      <p:sp>
        <p:nvSpPr>
          <p:cNvPr id="5" name="Shape 3"/>
          <p:cNvSpPr/>
          <p:nvPr/>
        </p:nvSpPr>
        <p:spPr>
          <a:xfrm>
            <a:off x="571500" y="1298448"/>
            <a:ext cx="0" cy="109728"/>
          </a:xfrm>
          <a:prstGeom prst="line">
            <a:avLst/>
          </a:prstGeom>
          <a:noFill/>
          <a:ln w="19050">
            <a:solidFill>
              <a:srgbClr val="4CAF50"/>
            </a:solidFill>
            <a:prstDash val="solid"/>
          </a:ln>
        </p:spPr>
        <p:txBody>
          <a:bodyPr/>
          <a:lstStyle/>
          <a:p>
            <a:endParaRPr lang="en-GB"/>
          </a:p>
        </p:txBody>
      </p:sp>
      <p:sp>
        <p:nvSpPr>
          <p:cNvPr id="6" name="Text 4"/>
          <p:cNvSpPr/>
          <p:nvPr/>
        </p:nvSpPr>
        <p:spPr>
          <a:xfrm>
            <a:off x="822960" y="1005840"/>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M1 (Apr 26)</a:t>
            </a:r>
            <a:endParaRPr lang="en-US" sz="900" dirty="0"/>
          </a:p>
        </p:txBody>
      </p:sp>
      <p:sp>
        <p:nvSpPr>
          <p:cNvPr id="7" name="Text 5"/>
          <p:cNvSpPr/>
          <p:nvPr/>
        </p:nvSpPr>
        <p:spPr>
          <a:xfrm>
            <a:off x="2194560" y="1005840"/>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Platform Launch</a:t>
            </a:r>
            <a:endParaRPr lang="en-US" sz="1000" dirty="0"/>
          </a:p>
        </p:txBody>
      </p:sp>
      <p:sp>
        <p:nvSpPr>
          <p:cNvPr id="8" name="Text 6"/>
          <p:cNvSpPr/>
          <p:nvPr/>
        </p:nvSpPr>
        <p:spPr>
          <a:xfrm>
            <a:off x="4114800" y="1005840"/>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London soft launch, 5 drop-off locations</a:t>
            </a:r>
            <a:endParaRPr lang="en-US" sz="950" dirty="0"/>
          </a:p>
        </p:txBody>
      </p:sp>
      <p:sp>
        <p:nvSpPr>
          <p:cNvPr id="9" name="Shape 7"/>
          <p:cNvSpPr/>
          <p:nvPr/>
        </p:nvSpPr>
        <p:spPr>
          <a:xfrm>
            <a:off x="457200" y="1444752"/>
            <a:ext cx="228600" cy="228600"/>
          </a:xfrm>
          <a:prstGeom prst="ellipse">
            <a:avLst/>
          </a:prstGeom>
          <a:solidFill>
            <a:srgbClr val="2D7A4F"/>
          </a:solidFill>
          <a:ln/>
        </p:spPr>
        <p:txBody>
          <a:bodyPr/>
          <a:lstStyle/>
          <a:p>
            <a:endParaRPr lang="en-GB"/>
          </a:p>
        </p:txBody>
      </p:sp>
      <p:sp>
        <p:nvSpPr>
          <p:cNvPr id="10" name="Shape 8"/>
          <p:cNvSpPr/>
          <p:nvPr/>
        </p:nvSpPr>
        <p:spPr>
          <a:xfrm>
            <a:off x="571500" y="1691640"/>
            <a:ext cx="0" cy="109728"/>
          </a:xfrm>
          <a:prstGeom prst="line">
            <a:avLst/>
          </a:prstGeom>
          <a:noFill/>
          <a:ln w="19050">
            <a:solidFill>
              <a:srgbClr val="4CAF50"/>
            </a:solidFill>
            <a:prstDash val="solid"/>
          </a:ln>
        </p:spPr>
        <p:txBody>
          <a:bodyPr/>
          <a:lstStyle/>
          <a:p>
            <a:endParaRPr lang="en-GB"/>
          </a:p>
        </p:txBody>
      </p:sp>
      <p:sp>
        <p:nvSpPr>
          <p:cNvPr id="11" name="Text 9"/>
          <p:cNvSpPr/>
          <p:nvPr/>
        </p:nvSpPr>
        <p:spPr>
          <a:xfrm>
            <a:off x="822960" y="1399032"/>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M2 (May 26)</a:t>
            </a:r>
            <a:endParaRPr lang="en-US" sz="900" dirty="0"/>
          </a:p>
        </p:txBody>
      </p:sp>
      <p:sp>
        <p:nvSpPr>
          <p:cNvPr id="12" name="Text 10"/>
          <p:cNvSpPr/>
          <p:nvPr/>
        </p:nvSpPr>
        <p:spPr>
          <a:xfrm>
            <a:off x="2194560" y="1399032"/>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Marketplace Live</a:t>
            </a:r>
            <a:endParaRPr lang="en-US" sz="1000" dirty="0"/>
          </a:p>
        </p:txBody>
      </p:sp>
      <p:sp>
        <p:nvSpPr>
          <p:cNvPr id="13" name="Text 11"/>
          <p:cNvSpPr/>
          <p:nvPr/>
        </p:nvSpPr>
        <p:spPr>
          <a:xfrm>
            <a:off x="4114800" y="1399032"/>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P2P exchange + refurbished item sales</a:t>
            </a:r>
            <a:endParaRPr lang="en-US" sz="950" dirty="0"/>
          </a:p>
        </p:txBody>
      </p:sp>
      <p:sp>
        <p:nvSpPr>
          <p:cNvPr id="14" name="Shape 12"/>
          <p:cNvSpPr/>
          <p:nvPr/>
        </p:nvSpPr>
        <p:spPr>
          <a:xfrm>
            <a:off x="457200" y="1837944"/>
            <a:ext cx="228600" cy="228600"/>
          </a:xfrm>
          <a:prstGeom prst="ellipse">
            <a:avLst/>
          </a:prstGeom>
          <a:solidFill>
            <a:srgbClr val="2D7A4F"/>
          </a:solidFill>
          <a:ln/>
        </p:spPr>
        <p:txBody>
          <a:bodyPr/>
          <a:lstStyle/>
          <a:p>
            <a:endParaRPr lang="en-GB"/>
          </a:p>
        </p:txBody>
      </p:sp>
      <p:sp>
        <p:nvSpPr>
          <p:cNvPr id="15" name="Shape 13"/>
          <p:cNvSpPr/>
          <p:nvPr/>
        </p:nvSpPr>
        <p:spPr>
          <a:xfrm>
            <a:off x="571500" y="2084832"/>
            <a:ext cx="0" cy="109728"/>
          </a:xfrm>
          <a:prstGeom prst="line">
            <a:avLst/>
          </a:prstGeom>
          <a:noFill/>
          <a:ln w="19050">
            <a:solidFill>
              <a:srgbClr val="4CAF50"/>
            </a:solidFill>
            <a:prstDash val="solid"/>
          </a:ln>
        </p:spPr>
        <p:txBody>
          <a:bodyPr/>
          <a:lstStyle/>
          <a:p>
            <a:endParaRPr lang="en-GB"/>
          </a:p>
        </p:txBody>
      </p:sp>
      <p:sp>
        <p:nvSpPr>
          <p:cNvPr id="16" name="Text 14"/>
          <p:cNvSpPr/>
          <p:nvPr/>
        </p:nvSpPr>
        <p:spPr>
          <a:xfrm>
            <a:off x="822960" y="1792224"/>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M3 (Jun 26)</a:t>
            </a:r>
            <a:endParaRPr lang="en-US" sz="900" dirty="0"/>
          </a:p>
        </p:txBody>
      </p:sp>
      <p:sp>
        <p:nvSpPr>
          <p:cNvPr id="17" name="Text 15"/>
          <p:cNvSpPr/>
          <p:nvPr/>
        </p:nvSpPr>
        <p:spPr>
          <a:xfrm>
            <a:off x="2194560" y="1792224"/>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Ads &amp; Collections</a:t>
            </a:r>
            <a:endParaRPr lang="en-US" sz="1000" dirty="0"/>
          </a:p>
        </p:txBody>
      </p:sp>
      <p:sp>
        <p:nvSpPr>
          <p:cNvPr id="18" name="Text 16"/>
          <p:cNvSpPr/>
          <p:nvPr/>
        </p:nvSpPr>
        <p:spPr>
          <a:xfrm>
            <a:off x="4114800" y="1792224"/>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Free 50kg gateway, promoted listings, service directory</a:t>
            </a:r>
            <a:endParaRPr lang="en-US" sz="950" dirty="0"/>
          </a:p>
        </p:txBody>
      </p:sp>
      <p:sp>
        <p:nvSpPr>
          <p:cNvPr id="19" name="Shape 17"/>
          <p:cNvSpPr/>
          <p:nvPr/>
        </p:nvSpPr>
        <p:spPr>
          <a:xfrm>
            <a:off x="457200" y="2231136"/>
            <a:ext cx="228600" cy="228600"/>
          </a:xfrm>
          <a:prstGeom prst="ellipse">
            <a:avLst/>
          </a:prstGeom>
          <a:solidFill>
            <a:srgbClr val="2D7A4F"/>
          </a:solidFill>
          <a:ln/>
        </p:spPr>
        <p:txBody>
          <a:bodyPr/>
          <a:lstStyle/>
          <a:p>
            <a:endParaRPr lang="en-GB"/>
          </a:p>
        </p:txBody>
      </p:sp>
      <p:sp>
        <p:nvSpPr>
          <p:cNvPr id="20" name="Shape 18"/>
          <p:cNvSpPr/>
          <p:nvPr/>
        </p:nvSpPr>
        <p:spPr>
          <a:xfrm>
            <a:off x="571500" y="2478024"/>
            <a:ext cx="0" cy="109728"/>
          </a:xfrm>
          <a:prstGeom prst="line">
            <a:avLst/>
          </a:prstGeom>
          <a:noFill/>
          <a:ln w="19050">
            <a:solidFill>
              <a:srgbClr val="4CAF50"/>
            </a:solidFill>
            <a:prstDash val="solid"/>
          </a:ln>
        </p:spPr>
        <p:txBody>
          <a:bodyPr/>
          <a:lstStyle/>
          <a:p>
            <a:endParaRPr lang="en-GB"/>
          </a:p>
        </p:txBody>
      </p:sp>
      <p:sp>
        <p:nvSpPr>
          <p:cNvPr id="21" name="Text 19"/>
          <p:cNvSpPr/>
          <p:nvPr/>
        </p:nvSpPr>
        <p:spPr>
          <a:xfrm>
            <a:off x="822960" y="2185416"/>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M4 (Jul 26)</a:t>
            </a:r>
            <a:endParaRPr lang="en-US" sz="900" dirty="0"/>
          </a:p>
        </p:txBody>
      </p:sp>
      <p:sp>
        <p:nvSpPr>
          <p:cNvPr id="22" name="Text 20"/>
          <p:cNvSpPr/>
          <p:nvPr/>
        </p:nvSpPr>
        <p:spPr>
          <a:xfrm>
            <a:off x="2194560" y="2185416"/>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B2B Launch</a:t>
            </a:r>
            <a:endParaRPr lang="en-US" sz="1000" dirty="0"/>
          </a:p>
        </p:txBody>
      </p:sp>
      <p:sp>
        <p:nvSpPr>
          <p:cNvPr id="23" name="Text 21"/>
          <p:cNvSpPr/>
          <p:nvPr/>
        </p:nvSpPr>
        <p:spPr>
          <a:xfrm>
            <a:off x="4114800" y="2185416"/>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SME office clearance services commence</a:t>
            </a:r>
            <a:endParaRPr lang="en-US" sz="950" dirty="0"/>
          </a:p>
        </p:txBody>
      </p:sp>
      <p:sp>
        <p:nvSpPr>
          <p:cNvPr id="24" name="Shape 22"/>
          <p:cNvSpPr/>
          <p:nvPr/>
        </p:nvSpPr>
        <p:spPr>
          <a:xfrm>
            <a:off x="457200" y="2624328"/>
            <a:ext cx="228600" cy="228600"/>
          </a:xfrm>
          <a:prstGeom prst="ellipse">
            <a:avLst/>
          </a:prstGeom>
          <a:solidFill>
            <a:srgbClr val="2D7A4F"/>
          </a:solidFill>
          <a:ln/>
        </p:spPr>
        <p:txBody>
          <a:bodyPr/>
          <a:lstStyle/>
          <a:p>
            <a:endParaRPr lang="en-GB"/>
          </a:p>
        </p:txBody>
      </p:sp>
      <p:sp>
        <p:nvSpPr>
          <p:cNvPr id="25" name="Shape 23"/>
          <p:cNvSpPr/>
          <p:nvPr/>
        </p:nvSpPr>
        <p:spPr>
          <a:xfrm>
            <a:off x="571500" y="2871216"/>
            <a:ext cx="0" cy="109728"/>
          </a:xfrm>
          <a:prstGeom prst="line">
            <a:avLst/>
          </a:prstGeom>
          <a:noFill/>
          <a:ln w="19050">
            <a:solidFill>
              <a:srgbClr val="4CAF50"/>
            </a:solidFill>
            <a:prstDash val="solid"/>
          </a:ln>
        </p:spPr>
        <p:txBody>
          <a:bodyPr/>
          <a:lstStyle/>
          <a:p>
            <a:endParaRPr lang="en-GB"/>
          </a:p>
        </p:txBody>
      </p:sp>
      <p:sp>
        <p:nvSpPr>
          <p:cNvPr id="26" name="Text 24"/>
          <p:cNvSpPr/>
          <p:nvPr/>
        </p:nvSpPr>
        <p:spPr>
          <a:xfrm>
            <a:off x="822960" y="2578608"/>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M6 (Sep 26)</a:t>
            </a:r>
            <a:endParaRPr lang="en-US" sz="900" dirty="0"/>
          </a:p>
        </p:txBody>
      </p:sp>
      <p:sp>
        <p:nvSpPr>
          <p:cNvPr id="27" name="Text 25"/>
          <p:cNvSpPr/>
          <p:nvPr/>
        </p:nvSpPr>
        <p:spPr>
          <a:xfrm>
            <a:off x="2194560" y="2578608"/>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Compliance Revenue</a:t>
            </a:r>
            <a:endParaRPr lang="en-US" sz="1000" dirty="0"/>
          </a:p>
        </p:txBody>
      </p:sp>
      <p:sp>
        <p:nvSpPr>
          <p:cNvPr id="28" name="Text 26"/>
          <p:cNvSpPr/>
          <p:nvPr/>
        </p:nvSpPr>
        <p:spPr>
          <a:xfrm>
            <a:off x="4114800" y="2578608"/>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AATF channelling arrangement live, recycler network, OEM deals</a:t>
            </a:r>
            <a:endParaRPr lang="en-US" sz="950" dirty="0"/>
          </a:p>
        </p:txBody>
      </p:sp>
      <p:sp>
        <p:nvSpPr>
          <p:cNvPr id="29" name="Shape 27"/>
          <p:cNvSpPr/>
          <p:nvPr/>
        </p:nvSpPr>
        <p:spPr>
          <a:xfrm>
            <a:off x="457200" y="3017520"/>
            <a:ext cx="228600" cy="228600"/>
          </a:xfrm>
          <a:prstGeom prst="ellipse">
            <a:avLst/>
          </a:prstGeom>
          <a:solidFill>
            <a:srgbClr val="2D7A4F"/>
          </a:solidFill>
          <a:ln/>
        </p:spPr>
        <p:txBody>
          <a:bodyPr/>
          <a:lstStyle/>
          <a:p>
            <a:endParaRPr lang="en-GB"/>
          </a:p>
        </p:txBody>
      </p:sp>
      <p:sp>
        <p:nvSpPr>
          <p:cNvPr id="30" name="Shape 28"/>
          <p:cNvSpPr/>
          <p:nvPr/>
        </p:nvSpPr>
        <p:spPr>
          <a:xfrm>
            <a:off x="571500" y="3264408"/>
            <a:ext cx="0" cy="109728"/>
          </a:xfrm>
          <a:prstGeom prst="line">
            <a:avLst/>
          </a:prstGeom>
          <a:noFill/>
          <a:ln w="19050">
            <a:solidFill>
              <a:srgbClr val="4CAF50"/>
            </a:solidFill>
            <a:prstDash val="solid"/>
          </a:ln>
        </p:spPr>
        <p:txBody>
          <a:bodyPr/>
          <a:lstStyle/>
          <a:p>
            <a:endParaRPr lang="en-GB"/>
          </a:p>
        </p:txBody>
      </p:sp>
      <p:sp>
        <p:nvSpPr>
          <p:cNvPr id="31" name="Text 29"/>
          <p:cNvSpPr/>
          <p:nvPr/>
        </p:nvSpPr>
        <p:spPr>
          <a:xfrm>
            <a:off x="822960" y="2971800"/>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M7 (Oct 26)</a:t>
            </a:r>
            <a:endParaRPr lang="en-US" sz="900" dirty="0"/>
          </a:p>
        </p:txBody>
      </p:sp>
      <p:sp>
        <p:nvSpPr>
          <p:cNvPr id="32" name="Text 30"/>
          <p:cNvSpPr/>
          <p:nvPr/>
        </p:nvSpPr>
        <p:spPr>
          <a:xfrm>
            <a:off x="2194560" y="2971800"/>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Studio Opens</a:t>
            </a:r>
            <a:endParaRPr lang="en-US" sz="1000" dirty="0"/>
          </a:p>
        </p:txBody>
      </p:sp>
      <p:sp>
        <p:nvSpPr>
          <p:cNvPr id="33" name="Text 31"/>
          <p:cNvSpPr/>
          <p:nvPr/>
        </p:nvSpPr>
        <p:spPr>
          <a:xfrm>
            <a:off x="4114800" y="2971800"/>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First upcycle studio warehouse, artist auctions begin</a:t>
            </a:r>
            <a:endParaRPr lang="en-US" sz="950" dirty="0"/>
          </a:p>
        </p:txBody>
      </p:sp>
      <p:sp>
        <p:nvSpPr>
          <p:cNvPr id="34" name="Shape 32"/>
          <p:cNvSpPr/>
          <p:nvPr/>
        </p:nvSpPr>
        <p:spPr>
          <a:xfrm>
            <a:off x="457200" y="3410712"/>
            <a:ext cx="228600" cy="228600"/>
          </a:xfrm>
          <a:prstGeom prst="ellipse">
            <a:avLst/>
          </a:prstGeom>
          <a:solidFill>
            <a:srgbClr val="2D7A4F"/>
          </a:solidFill>
          <a:ln/>
        </p:spPr>
        <p:txBody>
          <a:bodyPr/>
          <a:lstStyle/>
          <a:p>
            <a:endParaRPr lang="en-GB"/>
          </a:p>
        </p:txBody>
      </p:sp>
      <p:sp>
        <p:nvSpPr>
          <p:cNvPr id="35" name="Shape 33"/>
          <p:cNvSpPr/>
          <p:nvPr/>
        </p:nvSpPr>
        <p:spPr>
          <a:xfrm>
            <a:off x="571500" y="3657600"/>
            <a:ext cx="0" cy="109728"/>
          </a:xfrm>
          <a:prstGeom prst="line">
            <a:avLst/>
          </a:prstGeom>
          <a:noFill/>
          <a:ln w="19050">
            <a:solidFill>
              <a:srgbClr val="4CAF50"/>
            </a:solidFill>
            <a:prstDash val="solid"/>
          </a:ln>
        </p:spPr>
        <p:txBody>
          <a:bodyPr/>
          <a:lstStyle/>
          <a:p>
            <a:endParaRPr lang="en-GB"/>
          </a:p>
        </p:txBody>
      </p:sp>
      <p:sp>
        <p:nvSpPr>
          <p:cNvPr id="36" name="Text 34"/>
          <p:cNvSpPr/>
          <p:nvPr/>
        </p:nvSpPr>
        <p:spPr>
          <a:xfrm>
            <a:off x="822960" y="3364992"/>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M9 (Dec 26)</a:t>
            </a:r>
            <a:endParaRPr lang="en-US" sz="900" dirty="0"/>
          </a:p>
        </p:txBody>
      </p:sp>
      <p:sp>
        <p:nvSpPr>
          <p:cNvPr id="37" name="Text 35"/>
          <p:cNvSpPr/>
          <p:nvPr/>
        </p:nvSpPr>
        <p:spPr>
          <a:xfrm>
            <a:off x="2194560" y="3364992"/>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Birmingham Launch</a:t>
            </a:r>
            <a:endParaRPr lang="en-US" sz="1000" dirty="0"/>
          </a:p>
        </p:txBody>
      </p:sp>
      <p:sp>
        <p:nvSpPr>
          <p:cNvPr id="38" name="Text 36"/>
          <p:cNvSpPr/>
          <p:nvPr/>
        </p:nvSpPr>
        <p:spPr>
          <a:xfrm>
            <a:off x="4114800" y="3364992"/>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Second city expansion</a:t>
            </a:r>
            <a:endParaRPr lang="en-US" sz="950" dirty="0"/>
          </a:p>
        </p:txBody>
      </p:sp>
      <p:sp>
        <p:nvSpPr>
          <p:cNvPr id="39" name="Shape 37"/>
          <p:cNvSpPr/>
          <p:nvPr/>
        </p:nvSpPr>
        <p:spPr>
          <a:xfrm>
            <a:off x="457200" y="3803904"/>
            <a:ext cx="228600" cy="228600"/>
          </a:xfrm>
          <a:prstGeom prst="ellipse">
            <a:avLst/>
          </a:prstGeom>
          <a:solidFill>
            <a:srgbClr val="4CAF50"/>
          </a:solidFill>
          <a:ln/>
        </p:spPr>
        <p:txBody>
          <a:bodyPr/>
          <a:lstStyle/>
          <a:p>
            <a:endParaRPr lang="en-GB"/>
          </a:p>
        </p:txBody>
      </p:sp>
      <p:sp>
        <p:nvSpPr>
          <p:cNvPr id="40" name="Shape 38"/>
          <p:cNvSpPr/>
          <p:nvPr/>
        </p:nvSpPr>
        <p:spPr>
          <a:xfrm>
            <a:off x="571500" y="4050792"/>
            <a:ext cx="0" cy="109728"/>
          </a:xfrm>
          <a:prstGeom prst="line">
            <a:avLst/>
          </a:prstGeom>
          <a:noFill/>
          <a:ln w="19050">
            <a:solidFill>
              <a:srgbClr val="4CAF50"/>
            </a:solidFill>
            <a:prstDash val="solid"/>
          </a:ln>
        </p:spPr>
        <p:txBody>
          <a:bodyPr/>
          <a:lstStyle/>
          <a:p>
            <a:endParaRPr lang="en-GB"/>
          </a:p>
        </p:txBody>
      </p:sp>
      <p:sp>
        <p:nvSpPr>
          <p:cNvPr id="41" name="Text 39"/>
          <p:cNvSpPr/>
          <p:nvPr/>
        </p:nvSpPr>
        <p:spPr>
          <a:xfrm>
            <a:off x="822960" y="3758184"/>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M12 (Mar 27)</a:t>
            </a:r>
            <a:endParaRPr lang="en-US" sz="900" dirty="0"/>
          </a:p>
        </p:txBody>
      </p:sp>
      <p:sp>
        <p:nvSpPr>
          <p:cNvPr id="42" name="Text 40"/>
          <p:cNvSpPr/>
          <p:nvPr/>
        </p:nvSpPr>
        <p:spPr>
          <a:xfrm>
            <a:off x="2194560" y="3758184"/>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Year 1 Complete</a:t>
            </a:r>
            <a:endParaRPr lang="en-US" sz="1000" dirty="0"/>
          </a:p>
        </p:txBody>
      </p:sp>
      <p:sp>
        <p:nvSpPr>
          <p:cNvPr id="43" name="Text 41"/>
          <p:cNvSpPr/>
          <p:nvPr/>
        </p:nvSpPr>
        <p:spPr>
          <a:xfrm>
            <a:off x="4114800" y="3758184"/>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25K users, £122K revenue (conservative)</a:t>
            </a:r>
            <a:endParaRPr lang="en-US" sz="950" dirty="0"/>
          </a:p>
        </p:txBody>
      </p:sp>
      <p:sp>
        <p:nvSpPr>
          <p:cNvPr id="44" name="Shape 42"/>
          <p:cNvSpPr/>
          <p:nvPr/>
        </p:nvSpPr>
        <p:spPr>
          <a:xfrm>
            <a:off x="457200" y="4197096"/>
            <a:ext cx="228600" cy="228600"/>
          </a:xfrm>
          <a:prstGeom prst="ellipse">
            <a:avLst/>
          </a:prstGeom>
          <a:solidFill>
            <a:srgbClr val="4CAF50"/>
          </a:solidFill>
          <a:ln/>
        </p:spPr>
        <p:txBody>
          <a:bodyPr/>
          <a:lstStyle/>
          <a:p>
            <a:endParaRPr lang="en-GB"/>
          </a:p>
        </p:txBody>
      </p:sp>
      <p:sp>
        <p:nvSpPr>
          <p:cNvPr id="45" name="Shape 43"/>
          <p:cNvSpPr/>
          <p:nvPr/>
        </p:nvSpPr>
        <p:spPr>
          <a:xfrm>
            <a:off x="571500" y="4443984"/>
            <a:ext cx="0" cy="109728"/>
          </a:xfrm>
          <a:prstGeom prst="line">
            <a:avLst/>
          </a:prstGeom>
          <a:noFill/>
          <a:ln w="19050">
            <a:solidFill>
              <a:srgbClr val="4CAF50"/>
            </a:solidFill>
            <a:prstDash val="solid"/>
          </a:ln>
        </p:spPr>
        <p:txBody>
          <a:bodyPr/>
          <a:lstStyle/>
          <a:p>
            <a:endParaRPr lang="en-GB"/>
          </a:p>
        </p:txBody>
      </p:sp>
      <p:sp>
        <p:nvSpPr>
          <p:cNvPr id="46" name="Text 44"/>
          <p:cNvSpPr/>
          <p:nvPr/>
        </p:nvSpPr>
        <p:spPr>
          <a:xfrm>
            <a:off x="822960" y="4151376"/>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M18 (Sep 27)</a:t>
            </a:r>
            <a:endParaRPr lang="en-US" sz="900" dirty="0"/>
          </a:p>
        </p:txBody>
      </p:sp>
      <p:sp>
        <p:nvSpPr>
          <p:cNvPr id="47" name="Text 45"/>
          <p:cNvSpPr/>
          <p:nvPr/>
        </p:nvSpPr>
        <p:spPr>
          <a:xfrm>
            <a:off x="2194560" y="4151376"/>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Full WEEE Compliance</a:t>
            </a:r>
            <a:endParaRPr lang="en-US" sz="1000" dirty="0"/>
          </a:p>
        </p:txBody>
      </p:sp>
      <p:sp>
        <p:nvSpPr>
          <p:cNvPr id="48" name="Text 46"/>
          <p:cNvSpPr/>
          <p:nvPr/>
        </p:nvSpPr>
        <p:spPr>
          <a:xfrm>
            <a:off x="4114800" y="4151376"/>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AATF channelling at scale, own licence application submitted</a:t>
            </a:r>
            <a:endParaRPr lang="en-US" sz="950" dirty="0"/>
          </a:p>
        </p:txBody>
      </p:sp>
      <p:sp>
        <p:nvSpPr>
          <p:cNvPr id="49" name="Shape 47"/>
          <p:cNvSpPr/>
          <p:nvPr/>
        </p:nvSpPr>
        <p:spPr>
          <a:xfrm>
            <a:off x="457200" y="4590288"/>
            <a:ext cx="228600" cy="228600"/>
          </a:xfrm>
          <a:prstGeom prst="ellipse">
            <a:avLst/>
          </a:prstGeom>
          <a:solidFill>
            <a:srgbClr val="4CAF50"/>
          </a:solidFill>
          <a:ln/>
        </p:spPr>
        <p:txBody>
          <a:bodyPr/>
          <a:lstStyle/>
          <a:p>
            <a:endParaRPr lang="en-GB"/>
          </a:p>
        </p:txBody>
      </p:sp>
      <p:sp>
        <p:nvSpPr>
          <p:cNvPr id="50" name="Text 48"/>
          <p:cNvSpPr/>
          <p:nvPr/>
        </p:nvSpPr>
        <p:spPr>
          <a:xfrm>
            <a:off x="822960" y="4544568"/>
            <a:ext cx="1280160" cy="320040"/>
          </a:xfrm>
          <a:prstGeom prst="rect">
            <a:avLst/>
          </a:prstGeom>
          <a:noFill/>
          <a:ln/>
        </p:spPr>
        <p:txBody>
          <a:bodyPr wrap="square" lIns="0" tIns="0" rIns="0" bIns="0" rtlCol="0" anchor="ctr"/>
          <a:lstStyle/>
          <a:p>
            <a:pPr marL="0" indent="0">
              <a:buNone/>
            </a:pPr>
            <a:r>
              <a:rPr lang="en-US" sz="900" b="1" dirty="0">
                <a:solidFill>
                  <a:srgbClr val="2D7A4F"/>
                </a:solidFill>
                <a:latin typeface="Calibri" pitchFamily="34" charset="0"/>
                <a:ea typeface="Calibri" pitchFamily="34" charset="-122"/>
                <a:cs typeface="Calibri" pitchFamily="34" charset="-120"/>
              </a:rPr>
              <a:t>M36 (Mar 29)</a:t>
            </a:r>
            <a:endParaRPr lang="en-US" sz="900" dirty="0"/>
          </a:p>
        </p:txBody>
      </p:sp>
      <p:sp>
        <p:nvSpPr>
          <p:cNvPr id="51" name="Text 49"/>
          <p:cNvSpPr/>
          <p:nvPr/>
        </p:nvSpPr>
        <p:spPr>
          <a:xfrm>
            <a:off x="2194560" y="4544568"/>
            <a:ext cx="1828800" cy="320040"/>
          </a:xfrm>
          <a:prstGeom prst="rect">
            <a:avLst/>
          </a:prstGeom>
          <a:noFill/>
          <a:ln/>
        </p:spPr>
        <p:txBody>
          <a:bodyPr wrap="square" lIns="0" tIns="0" rIns="0" bIns="0" rtlCol="0" anchor="ctr"/>
          <a:lstStyle/>
          <a:p>
            <a:pPr marL="0" indent="0">
              <a:buNone/>
            </a:pPr>
            <a:r>
              <a:rPr lang="en-US" sz="1000" b="1" dirty="0">
                <a:solidFill>
                  <a:srgbClr val="1E1E1E"/>
                </a:solidFill>
                <a:latin typeface="Calibri" pitchFamily="34" charset="0"/>
                <a:ea typeface="Calibri" pitchFamily="34" charset="-122"/>
                <a:cs typeface="Calibri" pitchFamily="34" charset="-120"/>
              </a:rPr>
              <a:t>Year 3 Complete</a:t>
            </a:r>
            <a:endParaRPr lang="en-US" sz="1000" dirty="0"/>
          </a:p>
        </p:txBody>
      </p:sp>
      <p:sp>
        <p:nvSpPr>
          <p:cNvPr id="52" name="Text 50"/>
          <p:cNvSpPr/>
          <p:nvPr/>
        </p:nvSpPr>
        <p:spPr>
          <a:xfrm>
            <a:off x="4114800" y="4544568"/>
            <a:ext cx="4572000" cy="320040"/>
          </a:xfrm>
          <a:prstGeom prst="rect">
            <a:avLst/>
          </a:prstGeom>
          <a:noFill/>
          <a:ln/>
        </p:spPr>
        <p:txBody>
          <a:bodyPr wrap="square" lIns="0" tIns="0" rIns="0" bIns="0" rtlCol="0" anchor="ctr"/>
          <a:lstStyle/>
          <a:p>
            <a:pPr marL="0" indent="0">
              <a:buNone/>
            </a:pPr>
            <a:r>
              <a:rPr lang="en-US" sz="950" dirty="0">
                <a:solidFill>
                  <a:srgbClr val="5C6B63"/>
                </a:solidFill>
                <a:latin typeface="Calibri" pitchFamily="34" charset="0"/>
                <a:ea typeface="Calibri" pitchFamily="34" charset="-122"/>
                <a:cs typeface="Calibri" pitchFamily="34" charset="-120"/>
              </a:rPr>
              <a:t>180K users, £950K revenue (conservative)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3A2D"/>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4CAF50"/>
          </a:solidFill>
          <a:ln/>
        </p:spPr>
        <p:txBody>
          <a:bodyPr/>
          <a:lstStyle/>
          <a:p>
            <a:endParaRPr lang="en-GB"/>
          </a:p>
        </p:txBody>
      </p:sp>
      <p:pic>
        <p:nvPicPr>
          <p:cNvPr id="3" name="Image 0" descr="preencoded.png"/>
          <p:cNvPicPr>
            <a:picLocks noChangeAspect="1"/>
          </p:cNvPicPr>
          <p:nvPr/>
        </p:nvPicPr>
        <p:blipFill>
          <a:blip r:embed="rId3"/>
          <a:stretch>
            <a:fillRect/>
          </a:stretch>
        </p:blipFill>
        <p:spPr>
          <a:xfrm>
            <a:off x="731520" y="457200"/>
            <a:ext cx="548640" cy="548640"/>
          </a:xfrm>
          <a:prstGeom prst="rect">
            <a:avLst/>
          </a:prstGeom>
        </p:spPr>
      </p:pic>
      <p:sp>
        <p:nvSpPr>
          <p:cNvPr id="4" name="Text 1"/>
          <p:cNvSpPr/>
          <p:nvPr/>
        </p:nvSpPr>
        <p:spPr>
          <a:xfrm>
            <a:off x="1463040" y="457200"/>
            <a:ext cx="6400800" cy="548640"/>
          </a:xfrm>
          <a:prstGeom prst="rect">
            <a:avLst/>
          </a:prstGeom>
          <a:noFill/>
          <a:ln/>
        </p:spPr>
        <p:txBody>
          <a:bodyPr wrap="square" lIns="0" tIns="0" rIns="0" bIns="0" rtlCol="0" anchor="ctr"/>
          <a:lstStyle/>
          <a:p>
            <a:pPr marL="0" indent="0">
              <a:buNone/>
            </a:pPr>
            <a:r>
              <a:rPr lang="en-US" sz="2800" b="1" dirty="0">
                <a:solidFill>
                  <a:srgbClr val="4CAF50"/>
                </a:solidFill>
                <a:latin typeface="Arial Black" pitchFamily="34" charset="0"/>
                <a:ea typeface="Arial Black" pitchFamily="34" charset="-122"/>
                <a:cs typeface="Arial Black" pitchFamily="34" charset="-120"/>
              </a:rPr>
              <a:t>INVESTMENT OPPORTUNITY</a:t>
            </a:r>
            <a:endParaRPr lang="en-US" sz="2800" dirty="0"/>
          </a:p>
        </p:txBody>
      </p:sp>
      <p:sp>
        <p:nvSpPr>
          <p:cNvPr id="5" name="Shape 2"/>
          <p:cNvSpPr/>
          <p:nvPr/>
        </p:nvSpPr>
        <p:spPr>
          <a:xfrm>
            <a:off x="457200" y="1280160"/>
            <a:ext cx="1828800" cy="1097280"/>
          </a:xfrm>
          <a:prstGeom prst="rect">
            <a:avLst/>
          </a:prstGeom>
          <a:solidFill>
            <a:srgbClr val="243B2F"/>
          </a:solidFill>
          <a:ln/>
        </p:spPr>
        <p:txBody>
          <a:bodyPr/>
          <a:lstStyle/>
          <a:p>
            <a:endParaRPr lang="en-GB"/>
          </a:p>
        </p:txBody>
      </p:sp>
      <p:sp>
        <p:nvSpPr>
          <p:cNvPr id="6" name="Text 3"/>
          <p:cNvSpPr/>
          <p:nvPr/>
        </p:nvSpPr>
        <p:spPr>
          <a:xfrm>
            <a:off x="457200" y="1371600"/>
            <a:ext cx="1828800" cy="457200"/>
          </a:xfrm>
          <a:prstGeom prst="rect">
            <a:avLst/>
          </a:prstGeom>
          <a:noFill/>
          <a:ln/>
        </p:spPr>
        <p:txBody>
          <a:bodyPr wrap="square" lIns="0" tIns="0" rIns="0" bIns="0" rtlCol="0" anchor="ctr"/>
          <a:lstStyle/>
          <a:p>
            <a:pPr marL="0" indent="0" algn="ctr">
              <a:buNone/>
            </a:pPr>
            <a:r>
              <a:rPr lang="en-US" sz="2400" dirty="0">
                <a:solidFill>
                  <a:srgbClr val="4CAF50"/>
                </a:solidFill>
                <a:latin typeface="Arial Black" pitchFamily="34" charset="0"/>
                <a:ea typeface="Arial Black" pitchFamily="34" charset="-122"/>
                <a:cs typeface="Arial Black" pitchFamily="34" charset="-120"/>
              </a:rPr>
              <a:t>£400,000</a:t>
            </a:r>
            <a:endParaRPr lang="en-US" sz="2400" dirty="0"/>
          </a:p>
        </p:txBody>
      </p:sp>
      <p:sp>
        <p:nvSpPr>
          <p:cNvPr id="7" name="Text 4"/>
          <p:cNvSpPr/>
          <p:nvPr/>
        </p:nvSpPr>
        <p:spPr>
          <a:xfrm>
            <a:off x="457200" y="1783080"/>
            <a:ext cx="182880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Raise Amount</a:t>
            </a:r>
            <a:endParaRPr lang="en-US" sz="1100" dirty="0"/>
          </a:p>
        </p:txBody>
      </p:sp>
      <p:sp>
        <p:nvSpPr>
          <p:cNvPr id="8" name="Text 5"/>
          <p:cNvSpPr/>
          <p:nvPr/>
        </p:nvSpPr>
        <p:spPr>
          <a:xfrm>
            <a:off x="457200" y="2011680"/>
            <a:ext cx="1828800" cy="228600"/>
          </a:xfrm>
          <a:prstGeom prst="rect">
            <a:avLst/>
          </a:prstGeom>
          <a:noFill/>
          <a:ln/>
        </p:spPr>
        <p:txBody>
          <a:bodyPr wrap="square" lIns="0" tIns="0" rIns="0" bIns="0" rtlCol="0" anchor="ctr"/>
          <a:lstStyle/>
          <a:p>
            <a:pPr marL="0" indent="0" algn="ctr">
              <a:buNone/>
            </a:pPr>
            <a:r>
              <a:rPr lang="en-US" sz="900" i="1" dirty="0">
                <a:solidFill>
                  <a:srgbClr val="5C6B63"/>
                </a:solidFill>
                <a:latin typeface="Calibri" pitchFamily="34" charset="0"/>
                <a:ea typeface="Calibri" pitchFamily="34" charset="-122"/>
                <a:cs typeface="Calibri" pitchFamily="34" charset="-120"/>
              </a:rPr>
              <a:t>SEIS/EIS (Pending HMRC Approval)</a:t>
            </a:r>
            <a:endParaRPr lang="en-US" sz="900" dirty="0"/>
          </a:p>
        </p:txBody>
      </p:sp>
      <p:sp>
        <p:nvSpPr>
          <p:cNvPr id="9" name="Shape 6"/>
          <p:cNvSpPr/>
          <p:nvPr/>
        </p:nvSpPr>
        <p:spPr>
          <a:xfrm>
            <a:off x="2560320" y="1280160"/>
            <a:ext cx="1828800" cy="1097280"/>
          </a:xfrm>
          <a:prstGeom prst="rect">
            <a:avLst/>
          </a:prstGeom>
          <a:solidFill>
            <a:srgbClr val="243B2F"/>
          </a:solidFill>
          <a:ln/>
        </p:spPr>
        <p:txBody>
          <a:bodyPr/>
          <a:lstStyle/>
          <a:p>
            <a:endParaRPr lang="en-GB"/>
          </a:p>
        </p:txBody>
      </p:sp>
      <p:sp>
        <p:nvSpPr>
          <p:cNvPr id="10" name="Text 7"/>
          <p:cNvSpPr/>
          <p:nvPr/>
        </p:nvSpPr>
        <p:spPr>
          <a:xfrm>
            <a:off x="2560320" y="1371600"/>
            <a:ext cx="1828800" cy="457200"/>
          </a:xfrm>
          <a:prstGeom prst="rect">
            <a:avLst/>
          </a:prstGeom>
          <a:noFill/>
          <a:ln/>
        </p:spPr>
        <p:txBody>
          <a:bodyPr wrap="square" lIns="0" tIns="0" rIns="0" bIns="0" rtlCol="0" anchor="ctr"/>
          <a:lstStyle/>
          <a:p>
            <a:pPr marL="0" indent="0" algn="ctr">
              <a:buNone/>
            </a:pPr>
            <a:r>
              <a:rPr lang="en-US" sz="2400" dirty="0">
                <a:solidFill>
                  <a:srgbClr val="4CAF50"/>
                </a:solidFill>
                <a:latin typeface="Arial Black" pitchFamily="34" charset="0"/>
                <a:ea typeface="Arial Black" pitchFamily="34" charset="-122"/>
                <a:cs typeface="Arial Black" pitchFamily="34" charset="-120"/>
              </a:rPr>
              <a:t>£122K</a:t>
            </a:r>
            <a:endParaRPr lang="en-US" sz="2400" dirty="0"/>
          </a:p>
        </p:txBody>
      </p:sp>
      <p:sp>
        <p:nvSpPr>
          <p:cNvPr id="11" name="Text 8"/>
          <p:cNvSpPr/>
          <p:nvPr/>
        </p:nvSpPr>
        <p:spPr>
          <a:xfrm>
            <a:off x="2560320" y="1783080"/>
            <a:ext cx="182880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Year 1 Revenue</a:t>
            </a:r>
            <a:endParaRPr lang="en-US" sz="1100" dirty="0"/>
          </a:p>
        </p:txBody>
      </p:sp>
      <p:sp>
        <p:nvSpPr>
          <p:cNvPr id="12" name="Text 9"/>
          <p:cNvSpPr/>
          <p:nvPr/>
        </p:nvSpPr>
        <p:spPr>
          <a:xfrm>
            <a:off x="2560320" y="2011680"/>
            <a:ext cx="1828800" cy="228600"/>
          </a:xfrm>
          <a:prstGeom prst="rect">
            <a:avLst/>
          </a:prstGeom>
          <a:noFill/>
          <a:ln/>
        </p:spPr>
        <p:txBody>
          <a:bodyPr wrap="square" lIns="0" tIns="0" rIns="0" bIns="0" rtlCol="0" anchor="ctr"/>
          <a:lstStyle/>
          <a:p>
            <a:pPr marL="0" indent="0" algn="ctr">
              <a:buNone/>
            </a:pPr>
            <a:r>
              <a:rPr lang="en-US" sz="900" i="1" dirty="0">
                <a:solidFill>
                  <a:srgbClr val="5C6B63"/>
                </a:solidFill>
                <a:latin typeface="Calibri" pitchFamily="34" charset="0"/>
                <a:ea typeface="Calibri" pitchFamily="34" charset="-122"/>
                <a:cs typeface="Calibri" pitchFamily="34" charset="-120"/>
              </a:rPr>
              <a:t>Conservative</a:t>
            </a:r>
            <a:endParaRPr lang="en-US" sz="900" dirty="0"/>
          </a:p>
        </p:txBody>
      </p:sp>
      <p:sp>
        <p:nvSpPr>
          <p:cNvPr id="13" name="Shape 10"/>
          <p:cNvSpPr/>
          <p:nvPr/>
        </p:nvSpPr>
        <p:spPr>
          <a:xfrm>
            <a:off x="4663440" y="1280160"/>
            <a:ext cx="1828800" cy="1097280"/>
          </a:xfrm>
          <a:prstGeom prst="rect">
            <a:avLst/>
          </a:prstGeom>
          <a:solidFill>
            <a:srgbClr val="243B2F"/>
          </a:solidFill>
          <a:ln/>
        </p:spPr>
        <p:txBody>
          <a:bodyPr/>
          <a:lstStyle/>
          <a:p>
            <a:endParaRPr lang="en-GB"/>
          </a:p>
        </p:txBody>
      </p:sp>
      <p:sp>
        <p:nvSpPr>
          <p:cNvPr id="14" name="Text 11"/>
          <p:cNvSpPr/>
          <p:nvPr/>
        </p:nvSpPr>
        <p:spPr>
          <a:xfrm>
            <a:off x="4663440" y="1371600"/>
            <a:ext cx="1828800" cy="457200"/>
          </a:xfrm>
          <a:prstGeom prst="rect">
            <a:avLst/>
          </a:prstGeom>
          <a:noFill/>
          <a:ln/>
        </p:spPr>
        <p:txBody>
          <a:bodyPr wrap="square" lIns="0" tIns="0" rIns="0" bIns="0" rtlCol="0" anchor="ctr"/>
          <a:lstStyle/>
          <a:p>
            <a:pPr marL="0" indent="0" algn="ctr">
              <a:buNone/>
            </a:pPr>
            <a:r>
              <a:rPr lang="en-US" sz="2400" dirty="0">
                <a:solidFill>
                  <a:srgbClr val="4CAF50"/>
                </a:solidFill>
                <a:latin typeface="Arial Black" pitchFamily="34" charset="0"/>
                <a:ea typeface="Arial Black" pitchFamily="34" charset="-122"/>
                <a:cs typeface="Arial Black" pitchFamily="34" charset="-120"/>
              </a:rPr>
              <a:t>£950K</a:t>
            </a:r>
            <a:endParaRPr lang="en-US" sz="2400" dirty="0"/>
          </a:p>
        </p:txBody>
      </p:sp>
      <p:sp>
        <p:nvSpPr>
          <p:cNvPr id="15" name="Text 12"/>
          <p:cNvSpPr/>
          <p:nvPr/>
        </p:nvSpPr>
        <p:spPr>
          <a:xfrm>
            <a:off x="4663440" y="1783080"/>
            <a:ext cx="182880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Year 3 Revenue</a:t>
            </a:r>
            <a:endParaRPr lang="en-US" sz="1100" dirty="0"/>
          </a:p>
        </p:txBody>
      </p:sp>
      <p:sp>
        <p:nvSpPr>
          <p:cNvPr id="16" name="Text 13"/>
          <p:cNvSpPr/>
          <p:nvPr/>
        </p:nvSpPr>
        <p:spPr>
          <a:xfrm>
            <a:off x="4663440" y="2011680"/>
            <a:ext cx="1828800" cy="228600"/>
          </a:xfrm>
          <a:prstGeom prst="rect">
            <a:avLst/>
          </a:prstGeom>
          <a:noFill/>
          <a:ln/>
        </p:spPr>
        <p:txBody>
          <a:bodyPr wrap="square" lIns="0" tIns="0" rIns="0" bIns="0" rtlCol="0" anchor="ctr"/>
          <a:lstStyle/>
          <a:p>
            <a:pPr marL="0" indent="0" algn="ctr">
              <a:buNone/>
            </a:pPr>
            <a:r>
              <a:rPr lang="en-US" sz="900" i="1" dirty="0">
                <a:solidFill>
                  <a:srgbClr val="5C6B63"/>
                </a:solidFill>
                <a:latin typeface="Calibri" pitchFamily="34" charset="0"/>
                <a:ea typeface="Calibri" pitchFamily="34" charset="-122"/>
                <a:cs typeface="Calibri" pitchFamily="34" charset="-120"/>
              </a:rPr>
              <a:t>Conservative</a:t>
            </a:r>
            <a:endParaRPr lang="en-US" sz="900" dirty="0"/>
          </a:p>
        </p:txBody>
      </p:sp>
      <p:sp>
        <p:nvSpPr>
          <p:cNvPr id="17" name="Shape 14"/>
          <p:cNvSpPr/>
          <p:nvPr/>
        </p:nvSpPr>
        <p:spPr>
          <a:xfrm>
            <a:off x="6766560" y="1280160"/>
            <a:ext cx="1828800" cy="1097280"/>
          </a:xfrm>
          <a:prstGeom prst="rect">
            <a:avLst/>
          </a:prstGeom>
          <a:solidFill>
            <a:srgbClr val="243B2F"/>
          </a:solidFill>
          <a:ln/>
        </p:spPr>
        <p:txBody>
          <a:bodyPr/>
          <a:lstStyle/>
          <a:p>
            <a:endParaRPr lang="en-GB"/>
          </a:p>
        </p:txBody>
      </p:sp>
      <p:sp>
        <p:nvSpPr>
          <p:cNvPr id="18" name="Text 15"/>
          <p:cNvSpPr/>
          <p:nvPr/>
        </p:nvSpPr>
        <p:spPr>
          <a:xfrm>
            <a:off x="6766560" y="1371600"/>
            <a:ext cx="1828800" cy="457200"/>
          </a:xfrm>
          <a:prstGeom prst="rect">
            <a:avLst/>
          </a:prstGeom>
          <a:noFill/>
          <a:ln/>
        </p:spPr>
        <p:txBody>
          <a:bodyPr wrap="square" lIns="0" tIns="0" rIns="0" bIns="0" rtlCol="0" anchor="ctr"/>
          <a:lstStyle/>
          <a:p>
            <a:pPr marL="0" indent="0" algn="ctr">
              <a:buNone/>
            </a:pPr>
            <a:r>
              <a:rPr lang="en-US" sz="2400" dirty="0">
                <a:solidFill>
                  <a:srgbClr val="4CAF50"/>
                </a:solidFill>
                <a:latin typeface="Arial Black" pitchFamily="34" charset="0"/>
                <a:ea typeface="Arial Black" pitchFamily="34" charset="-122"/>
                <a:cs typeface="Arial Black" pitchFamily="34" charset="-120"/>
              </a:rPr>
              <a:t>Year 3</a:t>
            </a:r>
            <a:endParaRPr lang="en-US" sz="2400" dirty="0"/>
          </a:p>
        </p:txBody>
      </p:sp>
      <p:sp>
        <p:nvSpPr>
          <p:cNvPr id="19" name="Text 16"/>
          <p:cNvSpPr/>
          <p:nvPr/>
        </p:nvSpPr>
        <p:spPr>
          <a:xfrm>
            <a:off x="6766560" y="1783080"/>
            <a:ext cx="182880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Break-even</a:t>
            </a:r>
            <a:endParaRPr lang="en-US" sz="1100" dirty="0"/>
          </a:p>
        </p:txBody>
      </p:sp>
      <p:sp>
        <p:nvSpPr>
          <p:cNvPr id="20" name="Text 17"/>
          <p:cNvSpPr/>
          <p:nvPr/>
        </p:nvSpPr>
        <p:spPr>
          <a:xfrm>
            <a:off x="6766560" y="2011680"/>
            <a:ext cx="1828800" cy="228600"/>
          </a:xfrm>
          <a:prstGeom prst="rect">
            <a:avLst/>
          </a:prstGeom>
          <a:noFill/>
          <a:ln/>
        </p:spPr>
        <p:txBody>
          <a:bodyPr wrap="square" lIns="0" tIns="0" rIns="0" bIns="0" rtlCol="0" anchor="ctr"/>
          <a:lstStyle/>
          <a:p>
            <a:pPr marL="0" indent="0" algn="ctr">
              <a:buNone/>
            </a:pPr>
            <a:r>
              <a:rPr lang="en-US" sz="900" i="1" dirty="0">
                <a:solidFill>
                  <a:srgbClr val="5C6B63"/>
                </a:solidFill>
                <a:latin typeface="Calibri" pitchFamily="34" charset="0"/>
                <a:ea typeface="Calibri" pitchFamily="34" charset="-122"/>
                <a:cs typeface="Calibri" pitchFamily="34" charset="-120"/>
              </a:rPr>
              <a:t>Month 25-30</a:t>
            </a:r>
            <a:endParaRPr lang="en-US" sz="900" dirty="0"/>
          </a:p>
        </p:txBody>
      </p:sp>
      <p:sp>
        <p:nvSpPr>
          <p:cNvPr id="21" name="Text 18"/>
          <p:cNvSpPr/>
          <p:nvPr/>
        </p:nvSpPr>
        <p:spPr>
          <a:xfrm>
            <a:off x="457200" y="2651760"/>
            <a:ext cx="82296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Investment Highlights</a:t>
            </a:r>
            <a:endParaRPr lang="en-US" sz="1600" dirty="0"/>
          </a:p>
        </p:txBody>
      </p:sp>
      <p:sp>
        <p:nvSpPr>
          <p:cNvPr id="22" name="Text 19"/>
          <p:cNvSpPr/>
          <p:nvPr/>
        </p:nvSpPr>
        <p:spPr>
          <a:xfrm>
            <a:off x="457200" y="3017520"/>
            <a:ext cx="8229600" cy="1463040"/>
          </a:xfrm>
          <a:prstGeom prst="rect">
            <a:avLst/>
          </a:prstGeom>
          <a:noFill/>
          <a:ln/>
        </p:spPr>
        <p:txBody>
          <a:bodyPr wrap="square" rtlCol="0" anchor="ctr"/>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Diversified revenue streams reducing concentration risk</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Multiple regulatory tailwinds: EPR, WEEE 2025, Net Zero commitments</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Defensible moats: integrated waste processing, artist network, platform network effects</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Rapidly growing addressable market: secondhand growing 25x, circular economy expanding annually</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Conservative financial projections demonstrating clear funding gap and need for SEIS/EIS incentive (pending HMRC approval)</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Clear exit paths: strategic acquisition (waste majors, retailers) or growth equity</a:t>
            </a:r>
            <a:endParaRPr lang="en-US" sz="1100" dirty="0"/>
          </a:p>
        </p:txBody>
      </p:sp>
      <p:sp>
        <p:nvSpPr>
          <p:cNvPr id="23" name="Shape 20"/>
          <p:cNvSpPr/>
          <p:nvPr/>
        </p:nvSpPr>
        <p:spPr>
          <a:xfrm>
            <a:off x="457200" y="4617720"/>
            <a:ext cx="8229600" cy="365760"/>
          </a:xfrm>
          <a:prstGeom prst="rect">
            <a:avLst/>
          </a:prstGeom>
          <a:solidFill>
            <a:srgbClr val="243B2F"/>
          </a:solidFill>
          <a:ln/>
        </p:spPr>
        <p:txBody>
          <a:bodyPr/>
          <a:lstStyle/>
          <a:p>
            <a:endParaRPr lang="en-GB"/>
          </a:p>
        </p:txBody>
      </p:sp>
      <p:sp>
        <p:nvSpPr>
          <p:cNvPr id="24" name="Text 21"/>
          <p:cNvSpPr/>
          <p:nvPr/>
        </p:nvSpPr>
        <p:spPr>
          <a:xfrm>
            <a:off x="640080" y="4617720"/>
            <a:ext cx="7863840" cy="365760"/>
          </a:xfrm>
          <a:prstGeom prst="rect">
            <a:avLst/>
          </a:prstGeom>
          <a:noFill/>
          <a:ln/>
        </p:spPr>
        <p:txBody>
          <a:bodyPr wrap="square" lIns="0" tIns="0" rIns="0" bIns="0" rtlCol="0" anchor="ctr"/>
          <a:lstStyle/>
          <a:p>
            <a:pPr marL="0" indent="0">
              <a:buNone/>
            </a:pPr>
            <a:r>
              <a:rPr lang="en-US" sz="1000" b="1" i="1" dirty="0">
                <a:solidFill>
                  <a:srgbClr val="4CAF50"/>
                </a:solidFill>
                <a:latin typeface="Calibri" pitchFamily="34" charset="0"/>
                <a:ea typeface="Calibri" pitchFamily="34" charset="-122"/>
                <a:cs typeface="Calibri" pitchFamily="34" charset="-120"/>
              </a:rPr>
              <a:t>TruCycle Ltd intends to continue raising EIS funds (pending HMRC approval) over the next &gt;7 years as the company grows and scales.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B3A2D"/>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4CAF50"/>
          </a:solidFill>
          <a:ln/>
        </p:spPr>
        <p:txBody>
          <a:bodyPr/>
          <a:lstStyle/>
          <a:p>
            <a:endParaRPr lang="en-GB"/>
          </a:p>
        </p:txBody>
      </p:sp>
      <p:pic>
        <p:nvPicPr>
          <p:cNvPr id="3" name="Image 0" descr="preencoded.png"/>
          <p:cNvPicPr>
            <a:picLocks noChangeAspect="1"/>
          </p:cNvPicPr>
          <p:nvPr/>
        </p:nvPicPr>
        <p:blipFill>
          <a:blip r:embed="rId3"/>
          <a:stretch>
            <a:fillRect/>
          </a:stretch>
        </p:blipFill>
        <p:spPr>
          <a:xfrm>
            <a:off x="3840480" y="731520"/>
            <a:ext cx="1097280" cy="1097280"/>
          </a:xfrm>
          <a:prstGeom prst="rect">
            <a:avLst/>
          </a:prstGeom>
        </p:spPr>
      </p:pic>
      <p:sp>
        <p:nvSpPr>
          <p:cNvPr id="4" name="Text 1"/>
          <p:cNvSpPr/>
          <p:nvPr/>
        </p:nvSpPr>
        <p:spPr>
          <a:xfrm>
            <a:off x="457200" y="1920240"/>
            <a:ext cx="8229600" cy="731520"/>
          </a:xfrm>
          <a:prstGeom prst="rect">
            <a:avLst/>
          </a:prstGeom>
          <a:noFill/>
          <a:ln/>
        </p:spPr>
        <p:txBody>
          <a:bodyPr wrap="square" lIns="0" tIns="0" rIns="0" bIns="0" rtlCol="0" anchor="ctr"/>
          <a:lstStyle/>
          <a:p>
            <a:pPr marL="0" indent="0" algn="ctr">
              <a:buNone/>
            </a:pPr>
            <a:r>
              <a:rPr lang="en-US" sz="4400" b="1" dirty="0">
                <a:solidFill>
                  <a:srgbClr val="4CAF50"/>
                </a:solidFill>
                <a:latin typeface="Arial Black" pitchFamily="34" charset="0"/>
                <a:ea typeface="Arial Black" pitchFamily="34" charset="-122"/>
                <a:cs typeface="Arial Black" pitchFamily="34" charset="-120"/>
              </a:rPr>
              <a:t>TRUCYCLE</a:t>
            </a:r>
            <a:endParaRPr lang="en-US" sz="4400" dirty="0"/>
          </a:p>
        </p:txBody>
      </p:sp>
      <p:sp>
        <p:nvSpPr>
          <p:cNvPr id="5" name="Text 2"/>
          <p:cNvSpPr/>
          <p:nvPr/>
        </p:nvSpPr>
        <p:spPr>
          <a:xfrm>
            <a:off x="457200" y="2560320"/>
            <a:ext cx="8229600" cy="365760"/>
          </a:xfrm>
          <a:prstGeom prst="rect">
            <a:avLst/>
          </a:prstGeom>
          <a:noFill/>
          <a:ln/>
        </p:spPr>
        <p:txBody>
          <a:bodyPr wrap="square" lIns="0" tIns="0" rIns="0" bIns="0"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Trade-In, Upcycle, Recycle</a:t>
            </a:r>
            <a:endParaRPr lang="en-US" sz="1800" dirty="0"/>
          </a:p>
        </p:txBody>
      </p:sp>
      <p:sp>
        <p:nvSpPr>
          <p:cNvPr id="6" name="Shape 3"/>
          <p:cNvSpPr/>
          <p:nvPr/>
        </p:nvSpPr>
        <p:spPr>
          <a:xfrm>
            <a:off x="2743200" y="3108960"/>
            <a:ext cx="3657600" cy="0"/>
          </a:xfrm>
          <a:prstGeom prst="line">
            <a:avLst/>
          </a:prstGeom>
          <a:noFill/>
          <a:ln w="25400">
            <a:solidFill>
              <a:srgbClr val="4CAF50"/>
            </a:solidFill>
            <a:prstDash val="solid"/>
          </a:ln>
        </p:spPr>
        <p:txBody>
          <a:bodyPr/>
          <a:lstStyle/>
          <a:p>
            <a:endParaRPr lang="en-GB"/>
          </a:p>
        </p:txBody>
      </p:sp>
      <p:sp>
        <p:nvSpPr>
          <p:cNvPr id="7" name="Text 4"/>
          <p:cNvSpPr/>
          <p:nvPr/>
        </p:nvSpPr>
        <p:spPr>
          <a:xfrm>
            <a:off x="457200" y="3291840"/>
            <a:ext cx="822960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www.trucycle.co.uk  |  ade.adedo@gmail.com</a:t>
            </a:r>
            <a:endParaRPr lang="en-US" sz="1400" dirty="0"/>
          </a:p>
        </p:txBody>
      </p:sp>
      <p:sp>
        <p:nvSpPr>
          <p:cNvPr id="8" name="Text 5"/>
          <p:cNvSpPr/>
          <p:nvPr/>
        </p:nvSpPr>
        <p:spPr>
          <a:xfrm>
            <a:off x="457200" y="3657600"/>
            <a:ext cx="8229600" cy="274320"/>
          </a:xfrm>
          <a:prstGeom prst="rect">
            <a:avLst/>
          </a:prstGeom>
          <a:noFill/>
          <a:ln/>
        </p:spPr>
        <p:txBody>
          <a:bodyPr wrap="square" lIns="0" tIns="0" rIns="0" bIns="0" rtlCol="0" anchor="ctr"/>
          <a:lstStyle/>
          <a:p>
            <a:pPr marL="0" indent="0" algn="ctr">
              <a:buNone/>
            </a:pPr>
            <a:r>
              <a:rPr lang="en-US" sz="1100" dirty="0">
                <a:solidFill>
                  <a:srgbClr val="5C6B63"/>
                </a:solidFill>
                <a:latin typeface="Calibri" pitchFamily="34" charset="0"/>
                <a:ea typeface="Calibri" pitchFamily="34" charset="-122"/>
                <a:cs typeface="Calibri" pitchFamily="34" charset="-120"/>
              </a:rPr>
              <a:t>Trucycle Ltd (trading as TruCycle)  |  Company No. 16478005</a:t>
            </a:r>
            <a:endParaRPr lang="en-US" sz="1100" dirty="0"/>
          </a:p>
        </p:txBody>
      </p:sp>
      <p:sp>
        <p:nvSpPr>
          <p:cNvPr id="9" name="Text 6"/>
          <p:cNvSpPr/>
          <p:nvPr/>
        </p:nvSpPr>
        <p:spPr>
          <a:xfrm>
            <a:off x="457200" y="3931920"/>
            <a:ext cx="8229600" cy="274320"/>
          </a:xfrm>
          <a:prstGeom prst="rect">
            <a:avLst/>
          </a:prstGeom>
          <a:noFill/>
          <a:ln/>
        </p:spPr>
        <p:txBody>
          <a:bodyPr wrap="square" lIns="0" tIns="0" rIns="0" bIns="0" rtlCol="0" anchor="ctr"/>
          <a:lstStyle/>
          <a:p>
            <a:pPr marL="0" indent="0" algn="ctr">
              <a:buNone/>
            </a:pPr>
            <a:r>
              <a:rPr lang="en-US" sz="1100" dirty="0">
                <a:solidFill>
                  <a:srgbClr val="5C6B63"/>
                </a:solidFill>
                <a:latin typeface="Calibri" pitchFamily="34" charset="0"/>
                <a:ea typeface="Calibri" pitchFamily="34" charset="-122"/>
                <a:cs typeface="Calibri" pitchFamily="34" charset="-120"/>
              </a:rPr>
              <a:t>Registered Address: 86-90 Paul Street, London, EC2A 4NE</a:t>
            </a:r>
            <a:endParaRPr lang="en-US" sz="1100" dirty="0"/>
          </a:p>
        </p:txBody>
      </p:sp>
      <p:sp>
        <p:nvSpPr>
          <p:cNvPr id="10" name="Text 7"/>
          <p:cNvSpPr/>
          <p:nvPr/>
        </p:nvSpPr>
        <p:spPr>
          <a:xfrm>
            <a:off x="457200" y="4206240"/>
            <a:ext cx="8229600" cy="274320"/>
          </a:xfrm>
          <a:prstGeom prst="rect">
            <a:avLst/>
          </a:prstGeom>
          <a:noFill/>
          <a:ln/>
        </p:spPr>
        <p:txBody>
          <a:bodyPr wrap="square" lIns="0" tIns="0" rIns="0" bIns="0" rtlCol="0" anchor="ctr"/>
          <a:lstStyle/>
          <a:p>
            <a:pPr marL="0" indent="0" algn="ctr">
              <a:buNone/>
            </a:pPr>
            <a:r>
              <a:rPr lang="en-US" sz="900" i="1" dirty="0">
                <a:solidFill>
                  <a:srgbClr val="5C6B63"/>
                </a:solidFill>
                <a:latin typeface="Calibri" pitchFamily="34" charset="0"/>
                <a:ea typeface="Calibri" pitchFamily="34" charset="-122"/>
                <a:cs typeface="Calibri" pitchFamily="34" charset="-120"/>
              </a:rPr>
              <a:t>Operational base: London (team works remotely across London; warehouse planned for Month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2481</Words>
  <Application>Microsoft Office PowerPoint</Application>
  <PresentationFormat>On-screen Show (16:9)</PresentationFormat>
  <Paragraphs>373</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TruCycle - Circular Economy Platform</dc:title>
  <dc:subject>PptxGenJS Presentation</dc:subject>
  <dc:creator>TruCycle Ltd</dc:creator>
  <cp:lastModifiedBy>adedoyin adejimi</cp:lastModifiedBy>
  <cp:revision>2</cp:revision>
  <dcterms:created xsi:type="dcterms:W3CDTF">2026-03-06T12:31:12Z</dcterms:created>
  <dcterms:modified xsi:type="dcterms:W3CDTF">2026-03-11T13:07:34Z</dcterms:modified>
</cp:coreProperties>
</file>