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52251"/>
          </a:solidFill>
          <a:ln w="12700">
            <a:solidFill>
              <a:srgbClr val="1522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2E6B"/>
          </a:solidFill>
          <a:ln w="12700">
            <a:solidFill>
              <a:srgbClr val="1A2E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91440" cy="2194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887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Better Together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Collaborative Platform for Verified Team Formation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291840"/>
            <a:ext cx="1828800" cy="320040"/>
          </a:xfrm>
          <a:prstGeom prst="roundRect">
            <a:avLst>
              <a:gd name="adj" fmla="val 3428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Verified Skills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3291840"/>
            <a:ext cx="1828800" cy="320040"/>
          </a:xfrm>
          <a:prstGeom prst="roundRect">
            <a:avLst>
              <a:gd name="adj" fmla="val 3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Work Playground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3291840"/>
            <a:ext cx="1828800" cy="320040"/>
          </a:xfrm>
          <a:prstGeom prst="roundRect">
            <a:avLst>
              <a:gd name="adj" fmla="val 3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Matching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3291840"/>
            <a:ext cx="1828800" cy="320040"/>
          </a:xfrm>
          <a:prstGeom prst="roundRect">
            <a:avLst>
              <a:gd name="adj" fmla="val 3428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Toolbox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March 2026  •  Product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0" y="5486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Build Better Together  •  2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Team is Hard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stages of collaboration are plagued by trust gaps, mismatched skills, and operational friction.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37360"/>
            <a:ext cx="64008" cy="1188720"/>
          </a:xfrm>
          <a:prstGeom prst="rect">
            <a:avLst/>
          </a:prstGeom>
          <a:solidFill>
            <a:srgbClr val="E55B4D"/>
          </a:solidFill>
          <a:ln w="12700">
            <a:solidFill>
              <a:srgbClr val="E55B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057400"/>
            <a:ext cx="502920" cy="502920"/>
          </a:xfrm>
          <a:prstGeom prst="ellipse">
            <a:avLst/>
          </a:prstGeom>
          <a:solidFill>
            <a:srgbClr val="E55B4D"/>
          </a:solidFill>
          <a:ln w="12700">
            <a:solidFill>
              <a:srgbClr val="E55B4D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10312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" y="18470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 Signals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43000" y="21488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Strangers can't verify each other's skills. Stated abilities are unproven, creating risk in team formation.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09067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3090672"/>
            <a:ext cx="64008" cy="1188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" y="3410712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3456432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43000" y="32004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Discovery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43000" y="350215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collaborators relies on luck, weak-tie networks or expensive platforms with no quality filter.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800600" y="17373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800600" y="1737360"/>
            <a:ext cx="64008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965192" y="205740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2103120"/>
            <a:ext cx="411480" cy="4114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77840" y="184708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Chaos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577840" y="21488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form without agreements, IP clarity, or governance — leading to early conflicts and dissolution.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800600" y="309067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800600" y="3090672"/>
            <a:ext cx="64008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965192" y="341071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456432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577840" y="32004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Stall Solo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577840" y="350215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project ideas die because builders can't easily assemble the right team across disciplines.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0F28"/>
          </a:solidFill>
          <a:ln w="12700">
            <a:solidFill>
              <a:srgbClr val="080F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0" y="5486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Build Better Together  •  3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685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Platform. Five Pillars.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 connects validation, collaboration, AI intelligence, multi-domain teamwork, and legal/financial tooling in a single ecosystem.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1600200" cy="2560320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28800"/>
            <a:ext cx="16002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95528" y="2606040"/>
            <a:ext cx="594360" cy="5943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651760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65760" y="33375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Skills Profile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011680" y="1828800"/>
            <a:ext cx="1600200" cy="2560320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011680" y="1828800"/>
            <a:ext cx="16002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0312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2532888" y="2606040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265176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103120" y="33375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Playground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749040" y="1828800"/>
            <a:ext cx="1600200" cy="2560320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749040" y="1828800"/>
            <a:ext cx="1600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84048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Shape 21"/>
          <p:cNvSpPr/>
          <p:nvPr/>
        </p:nvSpPr>
        <p:spPr>
          <a:xfrm>
            <a:off x="4270248" y="260604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651760"/>
            <a:ext cx="502920" cy="5029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840480" y="33375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Team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Formation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486400" y="1828800"/>
            <a:ext cx="1600200" cy="2560320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486400" y="1828800"/>
            <a:ext cx="16002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57784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31" name="Shape 26"/>
          <p:cNvSpPr/>
          <p:nvPr/>
        </p:nvSpPr>
        <p:spPr>
          <a:xfrm>
            <a:off x="6007608" y="260604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2651760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77840" y="33375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Multi-Domain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Collab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223760" y="1828800"/>
            <a:ext cx="1600200" cy="2560320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223760" y="1828800"/>
            <a:ext cx="1600200" cy="73152"/>
          </a:xfrm>
          <a:prstGeom prst="rect">
            <a:avLst/>
          </a:prstGeom>
          <a:solidFill>
            <a:srgbClr val="E55B4D"/>
          </a:solidFill>
          <a:ln w="12700">
            <a:solidFill>
              <a:srgbClr val="E55B4D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31520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5B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37" name="Shape 31"/>
          <p:cNvSpPr/>
          <p:nvPr/>
        </p:nvSpPr>
        <p:spPr>
          <a:xfrm>
            <a:off x="7744968" y="2606040"/>
            <a:ext cx="594360" cy="594360"/>
          </a:xfrm>
          <a:prstGeom prst="ellipse">
            <a:avLst/>
          </a:prstGeom>
          <a:solidFill>
            <a:srgbClr val="E55B4D"/>
          </a:solidFill>
          <a:ln w="12700">
            <a:solidFill>
              <a:srgbClr val="E55B4D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2651760"/>
            <a:ext cx="502920" cy="50292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315200" y="33375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Toolbox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0" y="5486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Verified Skills Profile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Build Better Together  •  4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640080"/>
            <a:ext cx="1737360" cy="256032"/>
          </a:xfrm>
          <a:prstGeom prst="roundRect">
            <a:avLst>
              <a:gd name="adj" fmla="val 35714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40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PILLAR 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You Can Trust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nominating a project or joining one, every user completes curated tasks that demonstrate real competence — creating a verified trust foundation.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38528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19202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Domain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1396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skill areas relevant to your expertise — tech, finance, agri, legal, design, and more.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96896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5786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Challenges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7980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Tackle domain-specific tasks and scenarios curated by subject-matter experts.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255264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2369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Verification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4564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threshold to receive your verified skill badge — visible on your profile.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913632"/>
            <a:ext cx="384048" cy="3840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38953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Participation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1148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can nominate projects, accept invitations, and appear in AI collaborator suggestions.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83480" y="1874520"/>
            <a:ext cx="3794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83480" y="1874520"/>
            <a:ext cx="379476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18745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VERIFIED PROFILE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2423160"/>
            <a:ext cx="1417320" cy="1417320"/>
          </a:xfrm>
          <a:prstGeom prst="ellipse">
            <a:avLst/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560320"/>
            <a:ext cx="1143000" cy="114300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166360" y="3977640"/>
            <a:ext cx="1463040" cy="256032"/>
          </a:xfrm>
          <a:prstGeom prst="roundRect">
            <a:avLst>
              <a:gd name="adj" fmla="val 3214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66360" y="3977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Product Design ✓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812280" y="3977640"/>
            <a:ext cx="1463040" cy="256032"/>
          </a:xfrm>
          <a:prstGeom prst="roundRect">
            <a:avLst>
              <a:gd name="adj" fmla="val 3214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12280" y="3977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UX Research ✓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5166360" y="3977640"/>
            <a:ext cx="1463040" cy="256032"/>
          </a:xfrm>
          <a:prstGeom prst="roundRect">
            <a:avLst>
              <a:gd name="adj" fmla="val 3214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166360" y="3977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Prototyping ✓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858000" y="3977640"/>
            <a:ext cx="1463040" cy="256032"/>
          </a:xfrm>
          <a:prstGeom prst="roundRect">
            <a:avLst>
              <a:gd name="adj" fmla="val 3214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58000" y="3977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Prototyping ✓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074920" y="43159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Trust Score: 94 / 100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0" y="5486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— The Work Playground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Build Better Together  •  5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640080"/>
            <a:ext cx="1737360" cy="256032"/>
          </a:xfrm>
          <a:prstGeom prst="roundRect">
            <a:avLst>
              <a:gd name="adj" fmla="val 3571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40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PILLAR 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Symbiosis Over Competition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4447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playground is a collaborative space — not a leaderboard. Verified users nominate projects, synchronise around shared goals, and form mission-aligned teams.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20240"/>
            <a:ext cx="64008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267712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313432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61288" y="2039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Nomination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61288" y="234086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users propose projects, define scope, set team requirements, and open slots for collaborators with matching verified skills.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46320" y="192024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1920240"/>
            <a:ext cx="64008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10912" y="2267712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2313432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641848" y="2039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&amp; Matching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641848" y="234086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leads can invite specific collaborators or let the AI suggest the best qualified candidates based on verified profiles.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65760" y="329184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65760" y="3291840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30352" y="363931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685032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61288" y="3410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Cap of Five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1161288" y="371246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are intentionally small — up to 5 members — to maximise trust, accountability, and execution speed.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4846320" y="329184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846320" y="3291840"/>
            <a:ext cx="64008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010912" y="363931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685032"/>
            <a:ext cx="411480" cy="4114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641848" y="3410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Synchronised Progress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641848" y="371246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project workspace tracks milestones, keeps all members aligned, and surfaces blockers early.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0" y="5486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— AI-Powered Team Formation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Build Better Together  •  6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640080"/>
            <a:ext cx="1737360" cy="256032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40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PILLAR 03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AI Collaborator Agent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reads project requirements and verified profiles to intelligently suggest the right people — eliminating guesswork in team building.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20440" y="2011680"/>
            <a:ext cx="2103120" cy="21031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6D28D9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2331720"/>
            <a:ext cx="1463040" cy="1463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520440" y="3931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Agent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1828800"/>
            <a:ext cx="2926080" cy="960120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1828800"/>
            <a:ext cx="64008" cy="9601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Project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3200400"/>
            <a:ext cx="2926080" cy="960120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" y="3200400"/>
            <a:ext cx="64008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383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Verified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675120" y="1828800"/>
            <a:ext cx="2926080" cy="960120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75120" y="1828800"/>
            <a:ext cx="64008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Top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75120" y="3200400"/>
            <a:ext cx="2926080" cy="960120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675120" y="3200400"/>
            <a:ext cx="64008" cy="960120"/>
          </a:xfrm>
          <a:prstGeom prst="rect">
            <a:avLst/>
          </a:prstGeom>
          <a:solidFill>
            <a:srgbClr val="E55B4D"/>
          </a:solidFill>
          <a:ln w="12700">
            <a:solidFill>
              <a:srgbClr val="E55B4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0" y="3383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Team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of 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0" y="5486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— Multi-Domain Collaboration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Build Better Together  •  7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640080"/>
            <a:ext cx="1737360" cy="256032"/>
          </a:xfrm>
          <a:prstGeom prst="roundRect">
            <a:avLst>
              <a:gd name="adj" fmla="val 35714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40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PILLAR 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Tech — Any Domain, Any Project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" y="14447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 supports non-technical collaboration with tailored interfaces for professionals in agriculture, finance, medicine, law, and any other field.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019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01952"/>
            <a:ext cx="64008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221992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267712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61288" y="1993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61288" y="23591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Agronomists  •  Veterinarians  •  Soil Engineers  •  Farm Economists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800600" y="19019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00600" y="1901952"/>
            <a:ext cx="64008" cy="1188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65192" y="2221992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2267712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596128" y="1993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596128" y="23591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Accountants  •  Risk Actuaries  •  Finance Analysts  •  Strategists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65760" y="32735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65760" y="3273552"/>
            <a:ext cx="64008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30352" y="359359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639312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61288" y="3364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161288" y="3730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Solicitors  •  Compliance Officers  •  Paralegals  •  IP Specialists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800600" y="32735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800600" y="3273552"/>
            <a:ext cx="64008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965192" y="359359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639312"/>
            <a:ext cx="411480" cy="4114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596128" y="3364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5596128" y="37307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Engineers  •  Project Managers  •  Surveyors  •  Safety Experts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0" y="5486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 — The Toolbox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Build Better Together  •  8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640080"/>
            <a:ext cx="1737360" cy="256032"/>
          </a:xfrm>
          <a:prstGeom prst="roundRect">
            <a:avLst>
              <a:gd name="adj" fmla="val 35714"/>
            </a:avLst>
          </a:prstGeom>
          <a:solidFill>
            <a:srgbClr val="E55B4D"/>
          </a:solidFill>
          <a:ln w="12700">
            <a:solidFill>
              <a:srgbClr val="E55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40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</a:rPr>
              <a:t>PILLAR 05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You Need to Start Right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library of legal, financial, and governance resources that eliminate the friction of getting a team off the ground and aligned from day 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920240"/>
            <a:ext cx="4206240" cy="1280160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20240"/>
            <a:ext cx="4206240" cy="64008"/>
          </a:xfrm>
          <a:prstGeom prst="rect">
            <a:avLst/>
          </a:prstGeom>
          <a:solidFill>
            <a:srgbClr val="E55B4D"/>
          </a:solidFill>
          <a:ln w="12700">
            <a:solidFill>
              <a:srgbClr val="E55B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Templates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377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Agreements   ·   NDAs   ·   IP Assignment Clauses   ·   Contributor Contracts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920240"/>
            <a:ext cx="4206240" cy="1280160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920240"/>
            <a:ext cx="42062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&amp; Governance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377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Split Frameworks   ·   Role Definition Sheets   ·   Decision-Making Charters   ·   Voting Rights Templates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337560"/>
            <a:ext cx="4206240" cy="1280160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337560"/>
            <a:ext cx="420624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Formation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794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 Guidance   ·   Incorporation Checklists   ·   Jurisdiction Comparison   ·   Registered Agent Guidance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337560"/>
            <a:ext cx="4206240" cy="1280160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337560"/>
            <a:ext cx="42062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Structures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794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Budgeting Templates   ·   Revenue Share Models   ·   Expense Policy Frameworks   ·   Contributor Compensation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0" y="5486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Build Better Together  •  9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Sign-Up to Successful Team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01168" y="1298448"/>
            <a:ext cx="1600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1298448"/>
            <a:ext cx="16002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4173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04088" y="2011680"/>
            <a:ext cx="658368" cy="6583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57400"/>
            <a:ext cx="566928" cy="5669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74320" y="281635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Profile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Domain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810512" y="2304288"/>
            <a:ext cx="13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956816" y="1298448"/>
            <a:ext cx="1600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956816" y="1298448"/>
            <a:ext cx="16002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048256" y="14173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2459736" y="2011680"/>
            <a:ext cx="658368" cy="6583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56" y="2057400"/>
            <a:ext cx="566928" cy="56692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029968" y="281635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Skill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Tasks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566160" y="2304288"/>
            <a:ext cx="13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3712464" y="1298448"/>
            <a:ext cx="1600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712464" y="1298448"/>
            <a:ext cx="1600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803904" y="14173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26" name="Shape 22"/>
          <p:cNvSpPr/>
          <p:nvPr/>
        </p:nvSpPr>
        <p:spPr>
          <a:xfrm>
            <a:off x="4215384" y="2011680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2057400"/>
            <a:ext cx="566928" cy="56692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785616" y="281635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Project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5321808" y="2304288"/>
            <a:ext cx="13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5468112" y="1298448"/>
            <a:ext cx="1600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468112" y="1298448"/>
            <a:ext cx="16002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559552" y="14173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33" name="Shape 28"/>
          <p:cNvSpPr/>
          <p:nvPr/>
        </p:nvSpPr>
        <p:spPr>
          <a:xfrm>
            <a:off x="5971032" y="2011680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2057400"/>
            <a:ext cx="566928" cy="56692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541264" y="281635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7077456" y="2304288"/>
            <a:ext cx="137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7223760" y="1298448"/>
            <a:ext cx="1600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223760" y="1298448"/>
            <a:ext cx="1600200" cy="64008"/>
          </a:xfrm>
          <a:prstGeom prst="rect">
            <a:avLst/>
          </a:prstGeom>
          <a:solidFill>
            <a:srgbClr val="E55B4D"/>
          </a:solidFill>
          <a:ln w="12700">
            <a:solidFill>
              <a:srgbClr val="E55B4D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315200" y="14173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5B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40" name="Shape 34"/>
          <p:cNvSpPr/>
          <p:nvPr/>
        </p:nvSpPr>
        <p:spPr>
          <a:xfrm>
            <a:off x="7726680" y="2011680"/>
            <a:ext cx="658368" cy="658368"/>
          </a:xfrm>
          <a:prstGeom prst="ellipse">
            <a:avLst/>
          </a:prstGeom>
          <a:solidFill>
            <a:srgbClr val="E55B4D"/>
          </a:solidFill>
          <a:ln w="12700">
            <a:solidFill>
              <a:srgbClr val="E55B4D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057400"/>
            <a:ext cx="566928" cy="56692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296912" y="2816352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Toolbox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0" y="5486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&amp; Resource Library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Build Better Together  •  10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Ready-to-Use, Professionally Curated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is designed to reduce legal and financial friction at the earliest, most critical stage of team formation.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0020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00200"/>
            <a:ext cx="2788920" cy="320040"/>
          </a:xfrm>
          <a:prstGeom prst="rect">
            <a:avLst/>
          </a:prstGeom>
          <a:solidFill>
            <a:srgbClr val="E55B4D"/>
          </a:solidFill>
          <a:ln w="12700">
            <a:solidFill>
              <a:srgbClr val="E55B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002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Legal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9842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Co-Founder Agreement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2219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NDA (Mutual &amp; One-Way)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4597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IP Ownership Clause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Freelancer Contract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6120" y="160020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600200"/>
            <a:ext cx="278892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6002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Equity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19842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Equity Split Calculator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2219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Vesting Schedule Template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4597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SAFE Note Template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6974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Founder Rights Charter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72200" y="160020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600200"/>
            <a:ext cx="27889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6002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Governance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19842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Project Charter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222199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Role Definition Sheet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24597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Decision Log Template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26974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Exit/Dispute Protocol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108960"/>
            <a:ext cx="278892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108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493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Budget Template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7307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Revenue Share Model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9684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Milestone Tracker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2062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Meeting Minutes Template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310896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46120" y="3108960"/>
            <a:ext cx="278892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3108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Entity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83280" y="3493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Entity Type Comparison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83280" y="37307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Incorporation Checklist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83280" y="39684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Shareholder Register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383280" y="42062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Company Constitution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72200" y="310896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72200" y="3108960"/>
            <a:ext cx="2788920" cy="3200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3108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Compensation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09360" y="3493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Contributor Pay Matrix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09360" y="37307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Equity vs Cash Guide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09360" y="39684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Deferred Pay Model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09360" y="42062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Advisor Share Template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COLLAB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0" y="5486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DD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Collab Wins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Build Better Together  •  11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Differentiators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743200" cy="1207008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71600"/>
            <a:ext cx="64008" cy="1207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1810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self-reported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04825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verification through real tasks creates the trust foundation other platforms lack.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64408" y="1371600"/>
            <a:ext cx="2743200" cy="1207008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4408" y="1371600"/>
            <a:ext cx="64008" cy="1207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Symbiotic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47288" y="1810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over contest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47288" y="204825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form through synchronised purpose, not competition — producing better outcomes.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08776" y="1371600"/>
            <a:ext cx="2743200" cy="1207008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08776" y="1371600"/>
            <a:ext cx="64008" cy="1207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Universal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91656" y="1810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domain, not just tech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91656" y="204825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Agriculture, finance, law, medicine — any professional team can form and collaborate.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724912"/>
            <a:ext cx="4114800" cy="1207008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724912"/>
            <a:ext cx="64008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8163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AI-Backed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2920" y="3163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team matching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3401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removes bias and guesswork, surfacing the right collaborators every time.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2724912"/>
            <a:ext cx="4114800" cy="1207008"/>
          </a:xfrm>
          <a:prstGeom prst="rect">
            <a:avLst/>
          </a:prstGeom>
          <a:solidFill>
            <a:srgbClr val="152251"/>
          </a:solidFill>
          <a:ln w="12700">
            <a:solidFill>
              <a:srgbClr val="1E337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2724912"/>
            <a:ext cx="64008" cy="1207008"/>
          </a:xfrm>
          <a:prstGeom prst="rect">
            <a:avLst/>
          </a:prstGeom>
          <a:solidFill>
            <a:srgbClr val="E55B4D"/>
          </a:solidFill>
          <a:ln w="12700">
            <a:solidFill>
              <a:srgbClr val="E55B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8163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5B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800600" y="3163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financial from day 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3401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 cuts weeks of friction with curated templates, reducing early-stage failure.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152251"/>
          </a:solidFill>
          <a:ln w="12700">
            <a:solidFill>
              <a:srgbClr val="1522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1554480"/>
            <a:ext cx="91440" cy="1920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14600" y="14173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Build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Better Together?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514600" y="28803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 is the platform where verified professionals form trusted, mission-aligned teams — across every domain, supported from day 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3566160"/>
            <a:ext cx="1920240" cy="411480"/>
          </a:xfrm>
          <a:prstGeom prst="roundRect">
            <a:avLst>
              <a:gd name="adj" fmla="val 26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Request Access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3566160"/>
            <a:ext cx="1920240" cy="411480"/>
          </a:xfrm>
          <a:prstGeom prst="roundRect">
            <a:avLst>
              <a:gd name="adj" fmla="val 2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View Demo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20840" y="3566160"/>
            <a:ext cx="1920240" cy="411480"/>
          </a:xfrm>
          <a:prstGeom prst="roundRect">
            <a:avLst>
              <a:gd name="adj" fmla="val 26667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3566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 in Touch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4206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collab.io  •  hello@collab.io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 — Build Better Together</dc:title>
  <dc:subject>PptxGenJS Presentation</dc:subject>
  <dc:creator>PptxGenJS</dc:creator>
  <cp:lastModifiedBy>PptxGenJS</cp:lastModifiedBy>
  <cp:revision>1</cp:revision>
  <dcterms:created xsi:type="dcterms:W3CDTF">2026-03-09T23:05:51Z</dcterms:created>
  <dcterms:modified xsi:type="dcterms:W3CDTF">2026-03-09T23:05:51Z</dcterms:modified>
</cp:coreProperties>
</file>